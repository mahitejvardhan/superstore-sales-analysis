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Muli" panose="020B0604020202020204" charset="0"/>
      <p:regular r:id="rId18"/>
    </p:embeddedFon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regular r:id="rId20"/>
    </p:embeddedFont>
    <p:embeddedFont>
      <p:font typeface="The Seasons" panose="020B0604020202020204" charset="0"/>
      <p:regular r:id="rId21"/>
    </p:embeddedFont>
    <p:embeddedFont>
      <p:font typeface="The Seaso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8" d="100"/>
          <a:sy n="28" d="100"/>
        </p:scale>
        <p:origin x="1580" y="5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269400"/>
            <a:ext cx="18288000" cy="3017600"/>
            <a:chOff x="0" y="0"/>
            <a:chExt cx="3762963" cy="6209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2963" cy="620905"/>
            </a:xfrm>
            <a:custGeom>
              <a:avLst/>
              <a:gdLst/>
              <a:ahLst/>
              <a:cxnLst/>
              <a:rect l="l" t="t" r="r" b="b"/>
              <a:pathLst>
                <a:path w="3762963" h="620905">
                  <a:moveTo>
                    <a:pt x="0" y="0"/>
                  </a:moveTo>
                  <a:lnTo>
                    <a:pt x="3762963" y="0"/>
                  </a:lnTo>
                  <a:lnTo>
                    <a:pt x="3762963" y="620905"/>
                  </a:lnTo>
                  <a:lnTo>
                    <a:pt x="0" y="620905"/>
                  </a:ln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762963" cy="67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09867" y="2518463"/>
            <a:ext cx="5449433" cy="6466670"/>
            <a:chOff x="0" y="0"/>
            <a:chExt cx="844260" cy="10018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4260" cy="1001856"/>
            </a:xfrm>
            <a:custGeom>
              <a:avLst/>
              <a:gdLst/>
              <a:ahLst/>
              <a:cxnLst/>
              <a:rect l="l" t="t" r="r" b="b"/>
              <a:pathLst>
                <a:path w="844260" h="1001856">
                  <a:moveTo>
                    <a:pt x="76717" y="0"/>
                  </a:moveTo>
                  <a:lnTo>
                    <a:pt x="767543" y="0"/>
                  </a:lnTo>
                  <a:cubicBezTo>
                    <a:pt x="809912" y="0"/>
                    <a:pt x="844260" y="34347"/>
                    <a:pt x="844260" y="76717"/>
                  </a:cubicBezTo>
                  <a:lnTo>
                    <a:pt x="844260" y="925140"/>
                  </a:lnTo>
                  <a:cubicBezTo>
                    <a:pt x="844260" y="945486"/>
                    <a:pt x="836177" y="964999"/>
                    <a:pt x="821790" y="979387"/>
                  </a:cubicBezTo>
                  <a:cubicBezTo>
                    <a:pt x="807403" y="993774"/>
                    <a:pt x="787889" y="1001856"/>
                    <a:pt x="767543" y="1001856"/>
                  </a:cubicBezTo>
                  <a:lnTo>
                    <a:pt x="76717" y="1001856"/>
                  </a:lnTo>
                  <a:cubicBezTo>
                    <a:pt x="56370" y="1001856"/>
                    <a:pt x="36857" y="993774"/>
                    <a:pt x="22470" y="979387"/>
                  </a:cubicBezTo>
                  <a:cubicBezTo>
                    <a:pt x="8083" y="964999"/>
                    <a:pt x="0" y="945486"/>
                    <a:pt x="0" y="925140"/>
                  </a:cubicBezTo>
                  <a:lnTo>
                    <a:pt x="0" y="76717"/>
                  </a:lnTo>
                  <a:cubicBezTo>
                    <a:pt x="0" y="56370"/>
                    <a:pt x="8083" y="36857"/>
                    <a:pt x="22470" y="22470"/>
                  </a:cubicBezTo>
                  <a:cubicBezTo>
                    <a:pt x="36857" y="8083"/>
                    <a:pt x="56370" y="0"/>
                    <a:pt x="76717" y="0"/>
                  </a:cubicBezTo>
                  <a:close/>
                </a:path>
              </a:pathLst>
            </a:custGeom>
            <a:blipFill>
              <a:blip r:embed="rId2"/>
              <a:stretch>
                <a:fillRect l="-55481" r="-5548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5613687"/>
            <a:ext cx="4394671" cy="691130"/>
            <a:chOff x="0" y="0"/>
            <a:chExt cx="904253" cy="1422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253" cy="142208"/>
            </a:xfrm>
            <a:custGeom>
              <a:avLst/>
              <a:gdLst/>
              <a:ahLst/>
              <a:cxnLst/>
              <a:rect l="l" t="t" r="r" b="b"/>
              <a:pathLst>
                <a:path w="904253" h="142208">
                  <a:moveTo>
                    <a:pt x="0" y="0"/>
                  </a:moveTo>
                  <a:lnTo>
                    <a:pt x="904253" y="0"/>
                  </a:lnTo>
                  <a:lnTo>
                    <a:pt x="904253" y="142208"/>
                  </a:lnTo>
                  <a:lnTo>
                    <a:pt x="0" y="142208"/>
                  </a:ln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04253" cy="199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4200837"/>
            <a:ext cx="4921928" cy="109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5"/>
              </a:lnSpc>
            </a:pPr>
            <a:r>
              <a:rPr lang="en-US" sz="6046" b="1" spc="-21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901967"/>
            <a:ext cx="9843856" cy="135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7"/>
              </a:lnSpc>
            </a:pPr>
            <a:r>
              <a:rPr lang="en-US" sz="7541" spc="-263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SUPERSTORE SALES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793681"/>
            <a:ext cx="246096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63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Prepared by: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9201150"/>
            <a:ext cx="479618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77">
                <a:solidFill>
                  <a:srgbClr val="FFF7F7"/>
                </a:solidFill>
                <a:latin typeface="Poppins Bold"/>
                <a:ea typeface="Poppins Bold"/>
                <a:cs typeface="Poppins Bold"/>
                <a:sym typeface="Poppins Bold"/>
              </a:rPr>
              <a:t>Mahitej Vardhan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2236" y="5743034"/>
            <a:ext cx="4091135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77">
                <a:solidFill>
                  <a:srgbClr val="FFF7F7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&amp; Power BI Project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561683"/>
            <a:ext cx="950982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End-to-End Sales Analytics and Business Intelligence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981" y="0"/>
            <a:ext cx="4145007" cy="10287000"/>
            <a:chOff x="0" y="0"/>
            <a:chExt cx="852882" cy="2116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882" cy="2116667"/>
            </a:xfrm>
            <a:custGeom>
              <a:avLst/>
              <a:gdLst/>
              <a:ahLst/>
              <a:cxnLst/>
              <a:rect l="l" t="t" r="r" b="b"/>
              <a:pathLst>
                <a:path w="852882" h="2116667">
                  <a:moveTo>
                    <a:pt x="0" y="0"/>
                  </a:moveTo>
                  <a:lnTo>
                    <a:pt x="852882" y="0"/>
                  </a:lnTo>
                  <a:lnTo>
                    <a:pt x="852882" y="2116667"/>
                  </a:lnTo>
                  <a:lnTo>
                    <a:pt x="0" y="2116667"/>
                  </a:ln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52882" cy="2173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62309" y="9620084"/>
            <a:ext cx="4826978" cy="666916"/>
            <a:chOff x="0" y="0"/>
            <a:chExt cx="993205" cy="1372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3205" cy="137225"/>
            </a:xfrm>
            <a:custGeom>
              <a:avLst/>
              <a:gdLst/>
              <a:ahLst/>
              <a:cxnLst/>
              <a:rect l="l" t="t" r="r" b="b"/>
              <a:pathLst>
                <a:path w="993205" h="137225">
                  <a:moveTo>
                    <a:pt x="0" y="0"/>
                  </a:moveTo>
                  <a:lnTo>
                    <a:pt x="993205" y="0"/>
                  </a:lnTo>
                  <a:lnTo>
                    <a:pt x="993205" y="137225"/>
                  </a:lnTo>
                  <a:lnTo>
                    <a:pt x="0" y="137225"/>
                  </a:ln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93205" cy="19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483162"/>
            <a:ext cx="5365868" cy="102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765379"/>
            <a:ext cx="6165214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objective of this analysis is to understand the factors driving sales performance and identify opportunities for business growth using historical sales data by Python and Power BI.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2863" y="2408555"/>
            <a:ext cx="2622055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• Python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• Pandas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• NumPy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• Matplotlib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• Seaborn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• Power BI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• DAX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20309" y="1268728"/>
            <a:ext cx="536586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spc="-1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TOOLS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13213" y="2046603"/>
            <a:ext cx="5365868" cy="102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19918" y="3359337"/>
            <a:ext cx="2952457" cy="429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Data Collection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     ↓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Data Cleaning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     ↓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EDA using Python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     ↓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Business Insights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     ↓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Power BI Dashboard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     ↓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69599" y="6043634"/>
            <a:ext cx="3474772" cy="0"/>
          </a:xfrm>
          <a:prstGeom prst="line">
            <a:avLst/>
          </a:prstGeom>
          <a:ln w="38100" cap="flat">
            <a:solidFill>
              <a:srgbClr val="FFF7F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-467080" y="9620084"/>
            <a:ext cx="19222159" cy="666916"/>
            <a:chOff x="0" y="0"/>
            <a:chExt cx="3955177" cy="1372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55177" cy="137225"/>
            </a:xfrm>
            <a:custGeom>
              <a:avLst/>
              <a:gdLst/>
              <a:ahLst/>
              <a:cxnLst/>
              <a:rect l="l" t="t" r="r" b="b"/>
              <a:pathLst>
                <a:path w="3955177" h="137225">
                  <a:moveTo>
                    <a:pt x="0" y="0"/>
                  </a:moveTo>
                  <a:lnTo>
                    <a:pt x="3955177" y="0"/>
                  </a:lnTo>
                  <a:lnTo>
                    <a:pt x="3955177" y="137225"/>
                  </a:lnTo>
                  <a:lnTo>
                    <a:pt x="0" y="137225"/>
                  </a:ln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955177" cy="19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dataset provides sufficient customer, product, geographic, and sales information to perform comprehensive business performance analysis.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013" y="664405"/>
            <a:ext cx="9403360" cy="102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091590" y="3464379"/>
            <a:ext cx="2808735" cy="3882160"/>
            <a:chOff x="0" y="0"/>
            <a:chExt cx="620053" cy="8570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0053" cy="857022"/>
            </a:xfrm>
            <a:custGeom>
              <a:avLst/>
              <a:gdLst/>
              <a:ahLst/>
              <a:cxnLst/>
              <a:rect l="l" t="t" r="r" b="b"/>
              <a:pathLst>
                <a:path w="620053" h="857022">
                  <a:moveTo>
                    <a:pt x="51682" y="0"/>
                  </a:moveTo>
                  <a:lnTo>
                    <a:pt x="568372" y="0"/>
                  </a:lnTo>
                  <a:cubicBezTo>
                    <a:pt x="596915" y="0"/>
                    <a:pt x="620053" y="23139"/>
                    <a:pt x="620053" y="51682"/>
                  </a:cubicBezTo>
                  <a:lnTo>
                    <a:pt x="620053" y="805340"/>
                  </a:lnTo>
                  <a:cubicBezTo>
                    <a:pt x="620053" y="819047"/>
                    <a:pt x="614608" y="832192"/>
                    <a:pt x="604916" y="841884"/>
                  </a:cubicBezTo>
                  <a:cubicBezTo>
                    <a:pt x="595224" y="851577"/>
                    <a:pt x="582078" y="857022"/>
                    <a:pt x="568372" y="857022"/>
                  </a:cubicBezTo>
                  <a:lnTo>
                    <a:pt x="51682" y="857022"/>
                  </a:lnTo>
                  <a:cubicBezTo>
                    <a:pt x="23139" y="857022"/>
                    <a:pt x="0" y="833883"/>
                    <a:pt x="0" y="805340"/>
                  </a:cubicBezTo>
                  <a:lnTo>
                    <a:pt x="0" y="51682"/>
                  </a:lnTo>
                  <a:cubicBezTo>
                    <a:pt x="0" y="23139"/>
                    <a:pt x="23139" y="0"/>
                    <a:pt x="51682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20053" cy="914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87589" y="3717947"/>
            <a:ext cx="3637644" cy="507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9800 Transactions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18 business attributes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4 years of sales history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regions, categories, and customer segments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 Variable (Sales)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793 Customers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1994 Products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 Regions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49 States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28224" y="3511737"/>
            <a:ext cx="3697008" cy="5536590"/>
            <a:chOff x="0" y="0"/>
            <a:chExt cx="816148" cy="12222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6148" cy="1222252"/>
            </a:xfrm>
            <a:custGeom>
              <a:avLst/>
              <a:gdLst/>
              <a:ahLst/>
              <a:cxnLst/>
              <a:rect l="l" t="t" r="r" b="b"/>
              <a:pathLst>
                <a:path w="816148" h="1222252">
                  <a:moveTo>
                    <a:pt x="39264" y="0"/>
                  </a:moveTo>
                  <a:lnTo>
                    <a:pt x="776883" y="0"/>
                  </a:lnTo>
                  <a:cubicBezTo>
                    <a:pt x="787297" y="0"/>
                    <a:pt x="797284" y="4137"/>
                    <a:pt x="804647" y="11500"/>
                  </a:cubicBezTo>
                  <a:cubicBezTo>
                    <a:pt x="812011" y="18864"/>
                    <a:pt x="816148" y="28851"/>
                    <a:pt x="816148" y="39264"/>
                  </a:cubicBezTo>
                  <a:lnTo>
                    <a:pt x="816148" y="1182987"/>
                  </a:lnTo>
                  <a:cubicBezTo>
                    <a:pt x="816148" y="1193401"/>
                    <a:pt x="812011" y="1203388"/>
                    <a:pt x="804647" y="1210752"/>
                  </a:cubicBezTo>
                  <a:cubicBezTo>
                    <a:pt x="797284" y="1218115"/>
                    <a:pt x="787297" y="1222252"/>
                    <a:pt x="776883" y="1222252"/>
                  </a:cubicBezTo>
                  <a:lnTo>
                    <a:pt x="39264" y="1222252"/>
                  </a:lnTo>
                  <a:cubicBezTo>
                    <a:pt x="28851" y="1222252"/>
                    <a:pt x="18864" y="1218115"/>
                    <a:pt x="11500" y="1210752"/>
                  </a:cubicBezTo>
                  <a:cubicBezTo>
                    <a:pt x="4137" y="1203388"/>
                    <a:pt x="0" y="1193401"/>
                    <a:pt x="0" y="1182987"/>
                  </a:cubicBezTo>
                  <a:lnTo>
                    <a:pt x="0" y="39264"/>
                  </a:lnTo>
                  <a:cubicBezTo>
                    <a:pt x="0" y="28851"/>
                    <a:pt x="4137" y="18864"/>
                    <a:pt x="11500" y="11500"/>
                  </a:cubicBezTo>
                  <a:cubicBezTo>
                    <a:pt x="18864" y="4137"/>
                    <a:pt x="28851" y="0"/>
                    <a:pt x="39264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16148" cy="1279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544371" y="1238674"/>
            <a:ext cx="5691077" cy="7809653"/>
          </a:xfrm>
          <a:custGeom>
            <a:avLst/>
            <a:gdLst/>
            <a:ahLst/>
            <a:cxnLst/>
            <a:rect l="l" t="t" r="r" b="b"/>
            <a:pathLst>
              <a:path w="5691077" h="7809653">
                <a:moveTo>
                  <a:pt x="0" y="0"/>
                </a:moveTo>
                <a:lnTo>
                  <a:pt x="5691077" y="0"/>
                </a:lnTo>
                <a:lnTo>
                  <a:pt x="5691077" y="7809652"/>
                </a:lnTo>
                <a:lnTo>
                  <a:pt x="0" y="780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736500" y="2730686"/>
            <a:ext cx="3518915" cy="42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spc="-105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Features Analyzed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43254" y="3618887"/>
            <a:ext cx="2554687" cy="351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City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Category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Segment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Sales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Order Date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7589" y="2730686"/>
            <a:ext cx="3518915" cy="42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spc="-105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Data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43452" y="2115978"/>
            <a:ext cx="8229341" cy="3472829"/>
            <a:chOff x="0" y="0"/>
            <a:chExt cx="1693280" cy="7145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3280" cy="714574"/>
            </a:xfrm>
            <a:custGeom>
              <a:avLst/>
              <a:gdLst/>
              <a:ahLst/>
              <a:cxnLst/>
              <a:rect l="l" t="t" r="r" b="b"/>
              <a:pathLst>
                <a:path w="1693280" h="714574">
                  <a:moveTo>
                    <a:pt x="17639" y="0"/>
                  </a:moveTo>
                  <a:lnTo>
                    <a:pt x="1675641" y="0"/>
                  </a:lnTo>
                  <a:cubicBezTo>
                    <a:pt x="1685383" y="0"/>
                    <a:pt x="1693280" y="7897"/>
                    <a:pt x="1693280" y="17639"/>
                  </a:cubicBezTo>
                  <a:lnTo>
                    <a:pt x="1693280" y="696934"/>
                  </a:lnTo>
                  <a:cubicBezTo>
                    <a:pt x="1693280" y="706676"/>
                    <a:pt x="1685383" y="714574"/>
                    <a:pt x="1675641" y="714574"/>
                  </a:cubicBezTo>
                  <a:lnTo>
                    <a:pt x="17639" y="714574"/>
                  </a:lnTo>
                  <a:cubicBezTo>
                    <a:pt x="7897" y="714574"/>
                    <a:pt x="0" y="706676"/>
                    <a:pt x="0" y="696934"/>
                  </a:cubicBezTo>
                  <a:lnTo>
                    <a:pt x="0" y="17639"/>
                  </a:lnTo>
                  <a:cubicBezTo>
                    <a:pt x="0" y="7897"/>
                    <a:pt x="7897" y="0"/>
                    <a:pt x="17639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93280" cy="771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43452" y="5785471"/>
            <a:ext cx="8229341" cy="3472829"/>
            <a:chOff x="0" y="0"/>
            <a:chExt cx="1693280" cy="7145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280" cy="714574"/>
            </a:xfrm>
            <a:custGeom>
              <a:avLst/>
              <a:gdLst/>
              <a:ahLst/>
              <a:cxnLst/>
              <a:rect l="l" t="t" r="r" b="b"/>
              <a:pathLst>
                <a:path w="1693280" h="714574">
                  <a:moveTo>
                    <a:pt x="17639" y="0"/>
                  </a:moveTo>
                  <a:lnTo>
                    <a:pt x="1675641" y="0"/>
                  </a:lnTo>
                  <a:cubicBezTo>
                    <a:pt x="1685383" y="0"/>
                    <a:pt x="1693280" y="7897"/>
                    <a:pt x="1693280" y="17639"/>
                  </a:cubicBezTo>
                  <a:lnTo>
                    <a:pt x="1693280" y="696934"/>
                  </a:lnTo>
                  <a:cubicBezTo>
                    <a:pt x="1693280" y="706676"/>
                    <a:pt x="1685383" y="714574"/>
                    <a:pt x="1675641" y="714574"/>
                  </a:cubicBezTo>
                  <a:lnTo>
                    <a:pt x="17639" y="714574"/>
                  </a:lnTo>
                  <a:cubicBezTo>
                    <a:pt x="7897" y="714574"/>
                    <a:pt x="0" y="706676"/>
                    <a:pt x="0" y="696934"/>
                  </a:cubicBezTo>
                  <a:lnTo>
                    <a:pt x="0" y="17639"/>
                  </a:lnTo>
                  <a:cubicBezTo>
                    <a:pt x="0" y="7897"/>
                    <a:pt x="7897" y="0"/>
                    <a:pt x="17639" y="0"/>
                  </a:cubicBezTo>
                  <a:close/>
                </a:path>
              </a:pathLst>
            </a:custGeom>
            <a:solidFill>
              <a:srgbClr val="1F2B94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93280" cy="771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82876" y="2487567"/>
            <a:ext cx="2414211" cy="537227"/>
            <a:chOff x="0" y="0"/>
            <a:chExt cx="496751" cy="1105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751" cy="110541"/>
            </a:xfrm>
            <a:custGeom>
              <a:avLst/>
              <a:gdLst/>
              <a:ahLst/>
              <a:cxnLst/>
              <a:rect l="l" t="t" r="r" b="b"/>
              <a:pathLst>
                <a:path w="496751" h="110541">
                  <a:moveTo>
                    <a:pt x="55270" y="0"/>
                  </a:moveTo>
                  <a:lnTo>
                    <a:pt x="441481" y="0"/>
                  </a:lnTo>
                  <a:cubicBezTo>
                    <a:pt x="456140" y="0"/>
                    <a:pt x="470198" y="5823"/>
                    <a:pt x="480563" y="16188"/>
                  </a:cubicBezTo>
                  <a:cubicBezTo>
                    <a:pt x="490928" y="26553"/>
                    <a:pt x="496751" y="40612"/>
                    <a:pt x="496751" y="55270"/>
                  </a:cubicBezTo>
                  <a:lnTo>
                    <a:pt x="496751" y="55270"/>
                  </a:lnTo>
                  <a:cubicBezTo>
                    <a:pt x="496751" y="85795"/>
                    <a:pt x="472006" y="110541"/>
                    <a:pt x="441481" y="110541"/>
                  </a:cubicBezTo>
                  <a:lnTo>
                    <a:pt x="55270" y="110541"/>
                  </a:lnTo>
                  <a:cubicBezTo>
                    <a:pt x="24745" y="110541"/>
                    <a:pt x="0" y="85795"/>
                    <a:pt x="0" y="55270"/>
                  </a:cubicBezTo>
                  <a:lnTo>
                    <a:pt x="0" y="55270"/>
                  </a:lnTo>
                  <a:cubicBezTo>
                    <a:pt x="0" y="24745"/>
                    <a:pt x="24745" y="0"/>
                    <a:pt x="55270" y="0"/>
                  </a:cubicBezTo>
                  <a:close/>
                </a:path>
              </a:pathLst>
            </a:custGeom>
            <a:solidFill>
              <a:srgbClr val="1F2B94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96751" cy="167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99471" y="6179357"/>
            <a:ext cx="2507166" cy="537227"/>
            <a:chOff x="0" y="0"/>
            <a:chExt cx="515878" cy="1105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5878" cy="110541"/>
            </a:xfrm>
            <a:custGeom>
              <a:avLst/>
              <a:gdLst/>
              <a:ahLst/>
              <a:cxnLst/>
              <a:rect l="l" t="t" r="r" b="b"/>
              <a:pathLst>
                <a:path w="515878" h="110541">
                  <a:moveTo>
                    <a:pt x="55270" y="0"/>
                  </a:moveTo>
                  <a:lnTo>
                    <a:pt x="460607" y="0"/>
                  </a:lnTo>
                  <a:cubicBezTo>
                    <a:pt x="491132" y="0"/>
                    <a:pt x="515878" y="24745"/>
                    <a:pt x="515878" y="55270"/>
                  </a:cubicBezTo>
                  <a:lnTo>
                    <a:pt x="515878" y="55270"/>
                  </a:lnTo>
                  <a:cubicBezTo>
                    <a:pt x="515878" y="85795"/>
                    <a:pt x="491132" y="110541"/>
                    <a:pt x="460607" y="110541"/>
                  </a:cubicBezTo>
                  <a:lnTo>
                    <a:pt x="55270" y="110541"/>
                  </a:lnTo>
                  <a:cubicBezTo>
                    <a:pt x="24745" y="110541"/>
                    <a:pt x="0" y="85795"/>
                    <a:pt x="0" y="55270"/>
                  </a:cubicBezTo>
                  <a:lnTo>
                    <a:pt x="0" y="55270"/>
                  </a:lnTo>
                  <a:cubicBezTo>
                    <a:pt x="0" y="24745"/>
                    <a:pt x="24745" y="0"/>
                    <a:pt x="55270" y="0"/>
                  </a:cubicBezTo>
                  <a:close/>
                </a:path>
              </a:pathLst>
            </a:custGeom>
            <a:solidFill>
              <a:srgbClr val="FFF7F7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15878" cy="167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33016" y="4291456"/>
            <a:ext cx="2240858" cy="5228668"/>
          </a:xfrm>
          <a:custGeom>
            <a:avLst/>
            <a:gdLst/>
            <a:ahLst/>
            <a:cxnLst/>
            <a:rect l="l" t="t" r="r" b="b"/>
            <a:pathLst>
              <a:path w="2240858" h="5228668">
                <a:moveTo>
                  <a:pt x="0" y="0"/>
                </a:moveTo>
                <a:lnTo>
                  <a:pt x="2240858" y="0"/>
                </a:lnTo>
                <a:lnTo>
                  <a:pt x="2240858" y="5228668"/>
                </a:lnTo>
                <a:lnTo>
                  <a:pt x="0" y="522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508458" y="5220713"/>
            <a:ext cx="4700409" cy="3525307"/>
          </a:xfrm>
          <a:custGeom>
            <a:avLst/>
            <a:gdLst/>
            <a:ahLst/>
            <a:cxnLst/>
            <a:rect l="l" t="t" r="r" b="b"/>
            <a:pathLst>
              <a:path w="4700409" h="3525307">
                <a:moveTo>
                  <a:pt x="0" y="0"/>
                </a:moveTo>
                <a:lnTo>
                  <a:pt x="4700409" y="0"/>
                </a:lnTo>
                <a:lnTo>
                  <a:pt x="4700409" y="3525307"/>
                </a:lnTo>
                <a:lnTo>
                  <a:pt x="0" y="3525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1687285"/>
            <a:ext cx="6142917" cy="19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Data Quality Assessment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66280" y="3156850"/>
            <a:ext cx="7217360" cy="221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Missing values were identified in the Postal Code field.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All missing records belonged to Burlington, Vermont.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Since Postal Code is a geographical identifier rather than a measurable numerical feature, location-based imputation was more appropriate than mean or median replacement.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Duplicate records checked.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Data validated for analysis.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78238" y="2564728"/>
            <a:ext cx="214963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88">
                <a:solidFill>
                  <a:srgbClr val="FFF7F7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876" y="6848640"/>
            <a:ext cx="7472771" cy="2211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Numerical columns contained outliers that could influence analysis results.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IQR Method used for outlier detection.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Outliers were identified using the IQR method and evaluated before treatment to reduce the influence of extreme values on analysis.</a:t>
            </a: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88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Handling outliers reduced the impact of extreme values and improved the reliability of statistical analysis.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36535" y="6256518"/>
            <a:ext cx="203303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88">
                <a:solidFill>
                  <a:srgbClr val="1F2B94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2309" y="9620084"/>
            <a:ext cx="4826978" cy="666916"/>
            <a:chOff x="0" y="0"/>
            <a:chExt cx="993205" cy="1372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3205" cy="137225"/>
            </a:xfrm>
            <a:custGeom>
              <a:avLst/>
              <a:gdLst/>
              <a:ahLst/>
              <a:cxnLst/>
              <a:rect l="l" t="t" r="r" b="b"/>
              <a:pathLst>
                <a:path w="993205" h="137225">
                  <a:moveTo>
                    <a:pt x="0" y="0"/>
                  </a:moveTo>
                  <a:lnTo>
                    <a:pt x="993205" y="0"/>
                  </a:lnTo>
                  <a:lnTo>
                    <a:pt x="993205" y="137225"/>
                  </a:lnTo>
                  <a:lnTo>
                    <a:pt x="0" y="137225"/>
                  </a:ln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93205" cy="19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12030" y="1095375"/>
            <a:ext cx="9403360" cy="19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Key Questions Driving the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95957" y="6884788"/>
            <a:ext cx="2622055" cy="509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2831" spc="-138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Category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1820" y="3845043"/>
            <a:ext cx="9376192" cy="312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Is the business growing over time?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Which region contributes the highest revenue?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Which category generates maximum sales?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Which customer segment drives sales?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Which products are top performers?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 Which customers contribute most to revenue?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7. Which states and cities perform best?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8. What business actions can improve performance?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87659" y="3509353"/>
            <a:ext cx="11974308" cy="3884543"/>
            <a:chOff x="0" y="0"/>
            <a:chExt cx="2643436" cy="8575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3436" cy="857548"/>
            </a:xfrm>
            <a:custGeom>
              <a:avLst/>
              <a:gdLst/>
              <a:ahLst/>
              <a:cxnLst/>
              <a:rect l="l" t="t" r="r" b="b"/>
              <a:pathLst>
                <a:path w="2643436" h="857548">
                  <a:moveTo>
                    <a:pt x="12123" y="0"/>
                  </a:moveTo>
                  <a:lnTo>
                    <a:pt x="2631313" y="0"/>
                  </a:lnTo>
                  <a:cubicBezTo>
                    <a:pt x="2634529" y="0"/>
                    <a:pt x="2637612" y="1277"/>
                    <a:pt x="2639886" y="3551"/>
                  </a:cubicBezTo>
                  <a:cubicBezTo>
                    <a:pt x="2642159" y="5824"/>
                    <a:pt x="2643436" y="8908"/>
                    <a:pt x="2643436" y="12123"/>
                  </a:cubicBezTo>
                  <a:lnTo>
                    <a:pt x="2643436" y="845425"/>
                  </a:lnTo>
                  <a:cubicBezTo>
                    <a:pt x="2643436" y="852120"/>
                    <a:pt x="2638009" y="857548"/>
                    <a:pt x="2631313" y="857548"/>
                  </a:cubicBezTo>
                  <a:lnTo>
                    <a:pt x="12123" y="857548"/>
                  </a:lnTo>
                  <a:cubicBezTo>
                    <a:pt x="5428" y="857548"/>
                    <a:pt x="0" y="852120"/>
                    <a:pt x="0" y="845425"/>
                  </a:cubicBezTo>
                  <a:lnTo>
                    <a:pt x="0" y="12123"/>
                  </a:lnTo>
                  <a:cubicBezTo>
                    <a:pt x="0" y="5428"/>
                    <a:pt x="5428" y="0"/>
                    <a:pt x="12123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643436" cy="914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54674" y="4894112"/>
            <a:ext cx="3013460" cy="4165125"/>
            <a:chOff x="0" y="0"/>
            <a:chExt cx="620053" cy="857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053" cy="857022"/>
            </a:xfrm>
            <a:custGeom>
              <a:avLst/>
              <a:gdLst/>
              <a:ahLst/>
              <a:cxnLst/>
              <a:rect l="l" t="t" r="r" b="b"/>
              <a:pathLst>
                <a:path w="620053" h="857022">
                  <a:moveTo>
                    <a:pt x="48171" y="0"/>
                  </a:moveTo>
                  <a:lnTo>
                    <a:pt x="571883" y="0"/>
                  </a:lnTo>
                  <a:cubicBezTo>
                    <a:pt x="584658" y="0"/>
                    <a:pt x="596911" y="5075"/>
                    <a:pt x="605945" y="14109"/>
                  </a:cubicBezTo>
                  <a:cubicBezTo>
                    <a:pt x="614978" y="23143"/>
                    <a:pt x="620053" y="35395"/>
                    <a:pt x="620053" y="48171"/>
                  </a:cubicBezTo>
                  <a:lnTo>
                    <a:pt x="620053" y="808851"/>
                  </a:lnTo>
                  <a:cubicBezTo>
                    <a:pt x="620053" y="821626"/>
                    <a:pt x="614978" y="833879"/>
                    <a:pt x="605945" y="842913"/>
                  </a:cubicBezTo>
                  <a:cubicBezTo>
                    <a:pt x="596911" y="851946"/>
                    <a:pt x="584658" y="857022"/>
                    <a:pt x="571883" y="857022"/>
                  </a:cubicBezTo>
                  <a:lnTo>
                    <a:pt x="48171" y="857022"/>
                  </a:lnTo>
                  <a:cubicBezTo>
                    <a:pt x="35395" y="857022"/>
                    <a:pt x="23143" y="851946"/>
                    <a:pt x="14109" y="842913"/>
                  </a:cubicBezTo>
                  <a:cubicBezTo>
                    <a:pt x="5075" y="833879"/>
                    <a:pt x="0" y="821626"/>
                    <a:pt x="0" y="808851"/>
                  </a:cubicBezTo>
                  <a:lnTo>
                    <a:pt x="0" y="48171"/>
                  </a:lnTo>
                  <a:cubicBezTo>
                    <a:pt x="0" y="35395"/>
                    <a:pt x="5075" y="23143"/>
                    <a:pt x="14109" y="14109"/>
                  </a:cubicBezTo>
                  <a:cubicBezTo>
                    <a:pt x="23143" y="5075"/>
                    <a:pt x="35395" y="0"/>
                    <a:pt x="48171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053" cy="914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54628" y="4894112"/>
            <a:ext cx="3013460" cy="4165125"/>
            <a:chOff x="0" y="0"/>
            <a:chExt cx="620053" cy="8570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053" cy="857022"/>
            </a:xfrm>
            <a:custGeom>
              <a:avLst/>
              <a:gdLst/>
              <a:ahLst/>
              <a:cxnLst/>
              <a:rect l="l" t="t" r="r" b="b"/>
              <a:pathLst>
                <a:path w="620053" h="857022">
                  <a:moveTo>
                    <a:pt x="48171" y="0"/>
                  </a:moveTo>
                  <a:lnTo>
                    <a:pt x="571883" y="0"/>
                  </a:lnTo>
                  <a:cubicBezTo>
                    <a:pt x="584658" y="0"/>
                    <a:pt x="596911" y="5075"/>
                    <a:pt x="605945" y="14109"/>
                  </a:cubicBezTo>
                  <a:cubicBezTo>
                    <a:pt x="614978" y="23143"/>
                    <a:pt x="620053" y="35395"/>
                    <a:pt x="620053" y="48171"/>
                  </a:cubicBezTo>
                  <a:lnTo>
                    <a:pt x="620053" y="808851"/>
                  </a:lnTo>
                  <a:cubicBezTo>
                    <a:pt x="620053" y="821626"/>
                    <a:pt x="614978" y="833879"/>
                    <a:pt x="605945" y="842913"/>
                  </a:cubicBezTo>
                  <a:cubicBezTo>
                    <a:pt x="596911" y="851946"/>
                    <a:pt x="584658" y="857022"/>
                    <a:pt x="571883" y="857022"/>
                  </a:cubicBezTo>
                  <a:lnTo>
                    <a:pt x="48171" y="857022"/>
                  </a:lnTo>
                  <a:cubicBezTo>
                    <a:pt x="35395" y="857022"/>
                    <a:pt x="23143" y="851946"/>
                    <a:pt x="14109" y="842913"/>
                  </a:cubicBezTo>
                  <a:cubicBezTo>
                    <a:pt x="5075" y="833879"/>
                    <a:pt x="0" y="821626"/>
                    <a:pt x="0" y="808851"/>
                  </a:cubicBezTo>
                  <a:lnTo>
                    <a:pt x="0" y="48171"/>
                  </a:lnTo>
                  <a:cubicBezTo>
                    <a:pt x="0" y="35395"/>
                    <a:pt x="5075" y="23143"/>
                    <a:pt x="14109" y="14109"/>
                  </a:cubicBezTo>
                  <a:cubicBezTo>
                    <a:pt x="23143" y="5075"/>
                    <a:pt x="35395" y="0"/>
                    <a:pt x="48171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20053" cy="914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54582" y="4894112"/>
            <a:ext cx="3013460" cy="4165125"/>
            <a:chOff x="0" y="0"/>
            <a:chExt cx="620053" cy="8570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0053" cy="857022"/>
            </a:xfrm>
            <a:custGeom>
              <a:avLst/>
              <a:gdLst/>
              <a:ahLst/>
              <a:cxnLst/>
              <a:rect l="l" t="t" r="r" b="b"/>
              <a:pathLst>
                <a:path w="620053" h="857022">
                  <a:moveTo>
                    <a:pt x="48171" y="0"/>
                  </a:moveTo>
                  <a:lnTo>
                    <a:pt x="571883" y="0"/>
                  </a:lnTo>
                  <a:cubicBezTo>
                    <a:pt x="584658" y="0"/>
                    <a:pt x="596911" y="5075"/>
                    <a:pt x="605945" y="14109"/>
                  </a:cubicBezTo>
                  <a:cubicBezTo>
                    <a:pt x="614978" y="23143"/>
                    <a:pt x="620053" y="35395"/>
                    <a:pt x="620053" y="48171"/>
                  </a:cubicBezTo>
                  <a:lnTo>
                    <a:pt x="620053" y="808851"/>
                  </a:lnTo>
                  <a:cubicBezTo>
                    <a:pt x="620053" y="821626"/>
                    <a:pt x="614978" y="833879"/>
                    <a:pt x="605945" y="842913"/>
                  </a:cubicBezTo>
                  <a:cubicBezTo>
                    <a:pt x="596911" y="851946"/>
                    <a:pt x="584658" y="857022"/>
                    <a:pt x="571883" y="857022"/>
                  </a:cubicBezTo>
                  <a:lnTo>
                    <a:pt x="48171" y="857022"/>
                  </a:lnTo>
                  <a:cubicBezTo>
                    <a:pt x="35395" y="857022"/>
                    <a:pt x="23143" y="851946"/>
                    <a:pt x="14109" y="842913"/>
                  </a:cubicBezTo>
                  <a:cubicBezTo>
                    <a:pt x="5075" y="833879"/>
                    <a:pt x="0" y="821626"/>
                    <a:pt x="0" y="808851"/>
                  </a:cubicBezTo>
                  <a:lnTo>
                    <a:pt x="0" y="48171"/>
                  </a:lnTo>
                  <a:cubicBezTo>
                    <a:pt x="0" y="35395"/>
                    <a:pt x="5075" y="23143"/>
                    <a:pt x="14109" y="14109"/>
                  </a:cubicBezTo>
                  <a:cubicBezTo>
                    <a:pt x="23143" y="5075"/>
                    <a:pt x="35395" y="0"/>
                    <a:pt x="48171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620053" cy="914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034108" y="5230393"/>
            <a:ext cx="854592" cy="900432"/>
          </a:xfrm>
          <a:custGeom>
            <a:avLst/>
            <a:gdLst/>
            <a:ahLst/>
            <a:cxnLst/>
            <a:rect l="l" t="t" r="r" b="b"/>
            <a:pathLst>
              <a:path w="854592" h="900432">
                <a:moveTo>
                  <a:pt x="0" y="0"/>
                </a:moveTo>
                <a:lnTo>
                  <a:pt x="854592" y="0"/>
                </a:lnTo>
                <a:lnTo>
                  <a:pt x="854592" y="900432"/>
                </a:lnTo>
                <a:lnTo>
                  <a:pt x="0" y="900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024249" y="5143500"/>
            <a:ext cx="1074218" cy="1074218"/>
          </a:xfrm>
          <a:custGeom>
            <a:avLst/>
            <a:gdLst/>
            <a:ahLst/>
            <a:cxnLst/>
            <a:rect l="l" t="t" r="r" b="b"/>
            <a:pathLst>
              <a:path w="1074218" h="1074218">
                <a:moveTo>
                  <a:pt x="0" y="0"/>
                </a:moveTo>
                <a:lnTo>
                  <a:pt x="1074218" y="0"/>
                </a:lnTo>
                <a:lnTo>
                  <a:pt x="1074218" y="1074218"/>
                </a:lnTo>
                <a:lnTo>
                  <a:pt x="0" y="1074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071478" y="5230393"/>
            <a:ext cx="999920" cy="1003569"/>
          </a:xfrm>
          <a:custGeom>
            <a:avLst/>
            <a:gdLst/>
            <a:ahLst/>
            <a:cxnLst/>
            <a:rect l="l" t="t" r="r" b="b"/>
            <a:pathLst>
              <a:path w="999920" h="1003569">
                <a:moveTo>
                  <a:pt x="0" y="0"/>
                </a:moveTo>
                <a:lnTo>
                  <a:pt x="999920" y="0"/>
                </a:lnTo>
                <a:lnTo>
                  <a:pt x="999920" y="1003569"/>
                </a:lnTo>
                <a:lnTo>
                  <a:pt x="0" y="1003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975030" y="1738731"/>
            <a:ext cx="6341748" cy="19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0592" y="4972296"/>
            <a:ext cx="5731004" cy="3942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-11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PERFORMED</a:t>
            </a:r>
          </a:p>
          <a:p>
            <a:pPr algn="l">
              <a:lnSpc>
                <a:spcPts val="3079"/>
              </a:lnSpc>
            </a:pPr>
            <a:endParaRPr lang="en-US" sz="2399" b="1" spc="-117">
              <a:solidFill>
                <a:srgbClr val="34343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Sales Distribution Analysis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Customer Analysis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Product Analysis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Category Analysis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Segment Analysis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Regional Analysis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State &amp; City Analysis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Year-wise Sales Trend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16777" y="6405388"/>
            <a:ext cx="2090151" cy="195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business generated over </a:t>
            </a:r>
            <a:r>
              <a:rPr lang="en-US" sz="2199" b="1" spc="-10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$2.26M</a:t>
            </a: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in revenue from </a:t>
            </a:r>
            <a:r>
              <a:rPr lang="en-US" sz="2199" b="1" spc="-10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10K orders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1756" y="6405388"/>
            <a:ext cx="2539205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customer base consists of </a:t>
            </a:r>
            <a:r>
              <a:rPr lang="en-US" sz="2199" b="1" spc="-10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793 unique customers </a:t>
            </a: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purchasing from nearly </a:t>
            </a:r>
            <a:r>
              <a:rPr lang="en-US" sz="2199" b="1" spc="-10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2,000 products.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81813" y="6405388"/>
            <a:ext cx="2358999" cy="234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2199" b="1" spc="-10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sales</a:t>
            </a: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 per order is around </a:t>
            </a:r>
            <a:r>
              <a:rPr lang="en-US" sz="2199" b="1" spc="-107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$231</a:t>
            </a: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, indicating a healthy transaction value.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50064" y="4894112"/>
            <a:ext cx="6312060" cy="4165125"/>
            <a:chOff x="0" y="0"/>
            <a:chExt cx="1298778" cy="85702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98778" cy="857022"/>
            </a:xfrm>
            <a:custGeom>
              <a:avLst/>
              <a:gdLst/>
              <a:ahLst/>
              <a:cxnLst/>
              <a:rect l="l" t="t" r="r" b="b"/>
              <a:pathLst>
                <a:path w="1298778" h="857022">
                  <a:moveTo>
                    <a:pt x="22997" y="0"/>
                  </a:moveTo>
                  <a:lnTo>
                    <a:pt x="1275780" y="0"/>
                  </a:lnTo>
                  <a:cubicBezTo>
                    <a:pt x="1288481" y="0"/>
                    <a:pt x="1298778" y="10296"/>
                    <a:pt x="1298778" y="22997"/>
                  </a:cubicBezTo>
                  <a:lnTo>
                    <a:pt x="1298778" y="834024"/>
                  </a:lnTo>
                  <a:cubicBezTo>
                    <a:pt x="1298778" y="846725"/>
                    <a:pt x="1288481" y="857022"/>
                    <a:pt x="1275780" y="857022"/>
                  </a:cubicBezTo>
                  <a:lnTo>
                    <a:pt x="22997" y="857022"/>
                  </a:lnTo>
                  <a:cubicBezTo>
                    <a:pt x="10296" y="857022"/>
                    <a:pt x="0" y="846725"/>
                    <a:pt x="0" y="834024"/>
                  </a:cubicBezTo>
                  <a:lnTo>
                    <a:pt x="0" y="22997"/>
                  </a:lnTo>
                  <a:cubicBezTo>
                    <a:pt x="0" y="10296"/>
                    <a:pt x="10296" y="0"/>
                    <a:pt x="22997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298778" cy="914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31281" y="5503190"/>
            <a:ext cx="4206023" cy="3850360"/>
            <a:chOff x="0" y="0"/>
            <a:chExt cx="865437" cy="7922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5437" cy="792255"/>
            </a:xfrm>
            <a:custGeom>
              <a:avLst/>
              <a:gdLst/>
              <a:ahLst/>
              <a:cxnLst/>
              <a:rect l="l" t="t" r="r" b="b"/>
              <a:pathLst>
                <a:path w="865437" h="792255">
                  <a:moveTo>
                    <a:pt x="23008" y="0"/>
                  </a:moveTo>
                  <a:lnTo>
                    <a:pt x="842428" y="0"/>
                  </a:lnTo>
                  <a:cubicBezTo>
                    <a:pt x="855136" y="0"/>
                    <a:pt x="865437" y="10301"/>
                    <a:pt x="865437" y="23008"/>
                  </a:cubicBezTo>
                  <a:lnTo>
                    <a:pt x="865437" y="769247"/>
                  </a:lnTo>
                  <a:cubicBezTo>
                    <a:pt x="865437" y="775349"/>
                    <a:pt x="863013" y="781201"/>
                    <a:pt x="858698" y="785516"/>
                  </a:cubicBezTo>
                  <a:cubicBezTo>
                    <a:pt x="854383" y="789831"/>
                    <a:pt x="848531" y="792255"/>
                    <a:pt x="842428" y="792255"/>
                  </a:cubicBezTo>
                  <a:lnTo>
                    <a:pt x="23008" y="792255"/>
                  </a:lnTo>
                  <a:cubicBezTo>
                    <a:pt x="16906" y="792255"/>
                    <a:pt x="11054" y="789831"/>
                    <a:pt x="6739" y="785516"/>
                  </a:cubicBezTo>
                  <a:cubicBezTo>
                    <a:pt x="2424" y="781201"/>
                    <a:pt x="0" y="775349"/>
                    <a:pt x="0" y="769247"/>
                  </a:cubicBezTo>
                  <a:lnTo>
                    <a:pt x="0" y="23008"/>
                  </a:lnTo>
                  <a:cubicBezTo>
                    <a:pt x="0" y="16906"/>
                    <a:pt x="2424" y="11054"/>
                    <a:pt x="6739" y="6739"/>
                  </a:cubicBezTo>
                  <a:cubicBezTo>
                    <a:pt x="11054" y="2424"/>
                    <a:pt x="16906" y="0"/>
                    <a:pt x="23008" y="0"/>
                  </a:cubicBezTo>
                  <a:close/>
                </a:path>
              </a:pathLst>
            </a:custGeom>
            <a:solidFill>
              <a:srgbClr val="1F2B94"/>
            </a:solidFill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65437" cy="849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53277" y="5503190"/>
            <a:ext cx="4206023" cy="3755110"/>
            <a:chOff x="0" y="0"/>
            <a:chExt cx="865437" cy="7726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5437" cy="772656"/>
            </a:xfrm>
            <a:custGeom>
              <a:avLst/>
              <a:gdLst/>
              <a:ahLst/>
              <a:cxnLst/>
              <a:rect l="l" t="t" r="r" b="b"/>
              <a:pathLst>
                <a:path w="865437" h="772656">
                  <a:moveTo>
                    <a:pt x="23008" y="0"/>
                  </a:moveTo>
                  <a:lnTo>
                    <a:pt x="842428" y="0"/>
                  </a:lnTo>
                  <a:cubicBezTo>
                    <a:pt x="855136" y="0"/>
                    <a:pt x="865437" y="10301"/>
                    <a:pt x="865437" y="23008"/>
                  </a:cubicBezTo>
                  <a:lnTo>
                    <a:pt x="865437" y="749648"/>
                  </a:lnTo>
                  <a:cubicBezTo>
                    <a:pt x="865437" y="755750"/>
                    <a:pt x="863013" y="761602"/>
                    <a:pt x="858698" y="765917"/>
                  </a:cubicBezTo>
                  <a:cubicBezTo>
                    <a:pt x="854383" y="770232"/>
                    <a:pt x="848531" y="772656"/>
                    <a:pt x="842428" y="772656"/>
                  </a:cubicBezTo>
                  <a:lnTo>
                    <a:pt x="23008" y="772656"/>
                  </a:lnTo>
                  <a:cubicBezTo>
                    <a:pt x="16906" y="772656"/>
                    <a:pt x="11054" y="770232"/>
                    <a:pt x="6739" y="765917"/>
                  </a:cubicBezTo>
                  <a:cubicBezTo>
                    <a:pt x="2424" y="761602"/>
                    <a:pt x="0" y="755750"/>
                    <a:pt x="0" y="749648"/>
                  </a:cubicBezTo>
                  <a:lnTo>
                    <a:pt x="0" y="23008"/>
                  </a:lnTo>
                  <a:cubicBezTo>
                    <a:pt x="0" y="16906"/>
                    <a:pt x="2424" y="11054"/>
                    <a:pt x="6739" y="6739"/>
                  </a:cubicBezTo>
                  <a:cubicBezTo>
                    <a:pt x="11054" y="2424"/>
                    <a:pt x="16906" y="0"/>
                    <a:pt x="23008" y="0"/>
                  </a:cubicBezTo>
                  <a:close/>
                </a:path>
              </a:pathLst>
            </a:custGeom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65437" cy="829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5928" y="1219535"/>
            <a:ext cx="7164327" cy="5407039"/>
          </a:xfrm>
          <a:custGeom>
            <a:avLst/>
            <a:gdLst/>
            <a:ahLst/>
            <a:cxnLst/>
            <a:rect l="l" t="t" r="r" b="b"/>
            <a:pathLst>
              <a:path w="7164327" h="5407039">
                <a:moveTo>
                  <a:pt x="0" y="0"/>
                </a:moveTo>
                <a:lnTo>
                  <a:pt x="7164328" y="0"/>
                </a:lnTo>
                <a:lnTo>
                  <a:pt x="7164328" y="5407039"/>
                </a:lnTo>
                <a:lnTo>
                  <a:pt x="0" y="5407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14450" y="7322439"/>
            <a:ext cx="6745331" cy="19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SALES GROWTH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99629" y="5588915"/>
            <a:ext cx="3713319" cy="351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Analyze growth drivers from 2017 and 2018 and replicate successful strategies to sustain long-term growth.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Expected Impact: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Sustained revenue growth and improved forecasting of future sales performance.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90608" y="6032322"/>
            <a:ext cx="3489902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2015 → $479.9K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2016 → $459.4K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2017 → $600.2K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2018 → $722.1K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631281" y="1561581"/>
            <a:ext cx="8628019" cy="981960"/>
            <a:chOff x="0" y="0"/>
            <a:chExt cx="1775313" cy="2020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75313" cy="202049"/>
            </a:xfrm>
            <a:custGeom>
              <a:avLst/>
              <a:gdLst/>
              <a:ahLst/>
              <a:cxnLst/>
              <a:rect l="l" t="t" r="r" b="b"/>
              <a:pathLst>
                <a:path w="1775313" h="202049">
                  <a:moveTo>
                    <a:pt x="70102" y="0"/>
                  </a:moveTo>
                  <a:lnTo>
                    <a:pt x="1705211" y="0"/>
                  </a:lnTo>
                  <a:cubicBezTo>
                    <a:pt x="1743927" y="0"/>
                    <a:pt x="1775313" y="31386"/>
                    <a:pt x="1775313" y="70102"/>
                  </a:cubicBezTo>
                  <a:lnTo>
                    <a:pt x="1775313" y="131948"/>
                  </a:lnTo>
                  <a:cubicBezTo>
                    <a:pt x="1775313" y="170664"/>
                    <a:pt x="1743927" y="202049"/>
                    <a:pt x="1705211" y="202049"/>
                  </a:cubicBezTo>
                  <a:lnTo>
                    <a:pt x="70102" y="202049"/>
                  </a:lnTo>
                  <a:cubicBezTo>
                    <a:pt x="31386" y="202049"/>
                    <a:pt x="0" y="170664"/>
                    <a:pt x="0" y="131948"/>
                  </a:cubicBezTo>
                  <a:lnTo>
                    <a:pt x="0" y="70102"/>
                  </a:lnTo>
                  <a:cubicBezTo>
                    <a:pt x="0" y="31386"/>
                    <a:pt x="31386" y="0"/>
                    <a:pt x="70102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775313" cy="259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208485" y="1828088"/>
            <a:ext cx="72576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Sales show a strong upward trend across the years.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631281" y="3181466"/>
            <a:ext cx="8628019" cy="1502574"/>
            <a:chOff x="0" y="0"/>
            <a:chExt cx="1775313" cy="3091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5313" cy="309172"/>
            </a:xfrm>
            <a:custGeom>
              <a:avLst/>
              <a:gdLst/>
              <a:ahLst/>
              <a:cxnLst/>
              <a:rect l="l" t="t" r="r" b="b"/>
              <a:pathLst>
                <a:path w="1775313" h="309172">
                  <a:moveTo>
                    <a:pt x="70102" y="0"/>
                  </a:moveTo>
                  <a:lnTo>
                    <a:pt x="1705211" y="0"/>
                  </a:lnTo>
                  <a:cubicBezTo>
                    <a:pt x="1743927" y="0"/>
                    <a:pt x="1775313" y="31386"/>
                    <a:pt x="1775313" y="70102"/>
                  </a:cubicBezTo>
                  <a:lnTo>
                    <a:pt x="1775313" y="239070"/>
                  </a:lnTo>
                  <a:cubicBezTo>
                    <a:pt x="1775313" y="277786"/>
                    <a:pt x="1743927" y="309172"/>
                    <a:pt x="1705211" y="309172"/>
                  </a:cubicBezTo>
                  <a:lnTo>
                    <a:pt x="70102" y="309172"/>
                  </a:lnTo>
                  <a:cubicBezTo>
                    <a:pt x="31386" y="309172"/>
                    <a:pt x="0" y="277786"/>
                    <a:pt x="0" y="239070"/>
                  </a:cubicBezTo>
                  <a:lnTo>
                    <a:pt x="0" y="70102"/>
                  </a:lnTo>
                  <a:cubicBezTo>
                    <a:pt x="0" y="31386"/>
                    <a:pt x="31386" y="0"/>
                    <a:pt x="70102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775313" cy="366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208485" y="3308057"/>
            <a:ext cx="7257636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business has experienced sustainable growth, indicating increasing customer demand and effective sales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7375" y="6263368"/>
            <a:ext cx="6031925" cy="3676465"/>
            <a:chOff x="0" y="0"/>
            <a:chExt cx="1241137" cy="756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137" cy="756474"/>
            </a:xfrm>
            <a:custGeom>
              <a:avLst/>
              <a:gdLst/>
              <a:ahLst/>
              <a:cxnLst/>
              <a:rect l="l" t="t" r="r" b="b"/>
              <a:pathLst>
                <a:path w="1241137" h="756474">
                  <a:moveTo>
                    <a:pt x="16044" y="0"/>
                  </a:moveTo>
                  <a:lnTo>
                    <a:pt x="1225093" y="0"/>
                  </a:lnTo>
                  <a:cubicBezTo>
                    <a:pt x="1233954" y="0"/>
                    <a:pt x="1241137" y="7183"/>
                    <a:pt x="1241137" y="16044"/>
                  </a:cubicBezTo>
                  <a:lnTo>
                    <a:pt x="1241137" y="740431"/>
                  </a:lnTo>
                  <a:cubicBezTo>
                    <a:pt x="1241137" y="749291"/>
                    <a:pt x="1233954" y="756474"/>
                    <a:pt x="1225093" y="756474"/>
                  </a:cubicBezTo>
                  <a:lnTo>
                    <a:pt x="16044" y="756474"/>
                  </a:lnTo>
                  <a:cubicBezTo>
                    <a:pt x="7183" y="756474"/>
                    <a:pt x="0" y="749291"/>
                    <a:pt x="0" y="740431"/>
                  </a:cubicBezTo>
                  <a:lnTo>
                    <a:pt x="0" y="16044"/>
                  </a:lnTo>
                  <a:cubicBezTo>
                    <a:pt x="0" y="7183"/>
                    <a:pt x="7183" y="0"/>
                    <a:pt x="16044" y="0"/>
                  </a:cubicBezTo>
                  <a:close/>
                </a:path>
              </a:pathLst>
            </a:custGeom>
            <a:solidFill>
              <a:srgbClr val="1F2B94"/>
            </a:solidFill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241137" cy="813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2588" y="7271986"/>
            <a:ext cx="8628019" cy="2667847"/>
            <a:chOff x="0" y="0"/>
            <a:chExt cx="1775313" cy="548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5313" cy="548940"/>
            </a:xfrm>
            <a:custGeom>
              <a:avLst/>
              <a:gdLst/>
              <a:ahLst/>
              <a:cxnLst/>
              <a:rect l="l" t="t" r="r" b="b"/>
              <a:pathLst>
                <a:path w="1775313" h="548940">
                  <a:moveTo>
                    <a:pt x="9814" y="0"/>
                  </a:moveTo>
                  <a:lnTo>
                    <a:pt x="1765498" y="0"/>
                  </a:lnTo>
                  <a:cubicBezTo>
                    <a:pt x="1770919" y="0"/>
                    <a:pt x="1775313" y="4394"/>
                    <a:pt x="1775313" y="9814"/>
                  </a:cubicBezTo>
                  <a:lnTo>
                    <a:pt x="1775313" y="539125"/>
                  </a:lnTo>
                  <a:cubicBezTo>
                    <a:pt x="1775313" y="541728"/>
                    <a:pt x="1774279" y="544225"/>
                    <a:pt x="1772438" y="546065"/>
                  </a:cubicBezTo>
                  <a:cubicBezTo>
                    <a:pt x="1770598" y="547906"/>
                    <a:pt x="1768101" y="548940"/>
                    <a:pt x="1765498" y="548940"/>
                  </a:cubicBezTo>
                  <a:lnTo>
                    <a:pt x="9814" y="548940"/>
                  </a:lnTo>
                  <a:cubicBezTo>
                    <a:pt x="7211" y="548940"/>
                    <a:pt x="4715" y="547906"/>
                    <a:pt x="2875" y="546065"/>
                  </a:cubicBezTo>
                  <a:cubicBezTo>
                    <a:pt x="1034" y="544225"/>
                    <a:pt x="0" y="541728"/>
                    <a:pt x="0" y="539125"/>
                  </a:cubicBezTo>
                  <a:lnTo>
                    <a:pt x="0" y="9814"/>
                  </a:lnTo>
                  <a:cubicBezTo>
                    <a:pt x="0" y="7211"/>
                    <a:pt x="1034" y="4715"/>
                    <a:pt x="2875" y="2875"/>
                  </a:cubicBezTo>
                  <a:cubicBezTo>
                    <a:pt x="4715" y="1034"/>
                    <a:pt x="7211" y="0"/>
                    <a:pt x="9814" y="0"/>
                  </a:cubicBezTo>
                  <a:close/>
                </a:path>
              </a:pathLst>
            </a:custGeom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775313" cy="606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2588" y="4157245"/>
            <a:ext cx="8628019" cy="981960"/>
            <a:chOff x="0" y="0"/>
            <a:chExt cx="1775313" cy="2020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5313" cy="202049"/>
            </a:xfrm>
            <a:custGeom>
              <a:avLst/>
              <a:gdLst/>
              <a:ahLst/>
              <a:cxnLst/>
              <a:rect l="l" t="t" r="r" b="b"/>
              <a:pathLst>
                <a:path w="1775313" h="202049">
                  <a:moveTo>
                    <a:pt x="70102" y="0"/>
                  </a:moveTo>
                  <a:lnTo>
                    <a:pt x="1705211" y="0"/>
                  </a:lnTo>
                  <a:cubicBezTo>
                    <a:pt x="1743927" y="0"/>
                    <a:pt x="1775313" y="31386"/>
                    <a:pt x="1775313" y="70102"/>
                  </a:cubicBezTo>
                  <a:lnTo>
                    <a:pt x="1775313" y="131948"/>
                  </a:lnTo>
                  <a:cubicBezTo>
                    <a:pt x="1775313" y="170664"/>
                    <a:pt x="1743927" y="202049"/>
                    <a:pt x="1705211" y="202049"/>
                  </a:cubicBezTo>
                  <a:lnTo>
                    <a:pt x="70102" y="202049"/>
                  </a:lnTo>
                  <a:cubicBezTo>
                    <a:pt x="31386" y="202049"/>
                    <a:pt x="0" y="170664"/>
                    <a:pt x="0" y="131948"/>
                  </a:cubicBezTo>
                  <a:lnTo>
                    <a:pt x="0" y="70102"/>
                  </a:lnTo>
                  <a:cubicBezTo>
                    <a:pt x="0" y="31386"/>
                    <a:pt x="31386" y="0"/>
                    <a:pt x="70102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75313" cy="259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2588" y="5293162"/>
            <a:ext cx="8628019" cy="1502574"/>
            <a:chOff x="0" y="0"/>
            <a:chExt cx="1775313" cy="3091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5313" cy="309172"/>
            </a:xfrm>
            <a:custGeom>
              <a:avLst/>
              <a:gdLst/>
              <a:ahLst/>
              <a:cxnLst/>
              <a:rect l="l" t="t" r="r" b="b"/>
              <a:pathLst>
                <a:path w="1775313" h="309172">
                  <a:moveTo>
                    <a:pt x="70102" y="0"/>
                  </a:moveTo>
                  <a:lnTo>
                    <a:pt x="1705211" y="0"/>
                  </a:lnTo>
                  <a:cubicBezTo>
                    <a:pt x="1743927" y="0"/>
                    <a:pt x="1775313" y="31386"/>
                    <a:pt x="1775313" y="70102"/>
                  </a:cubicBezTo>
                  <a:lnTo>
                    <a:pt x="1775313" y="239070"/>
                  </a:lnTo>
                  <a:cubicBezTo>
                    <a:pt x="1775313" y="277786"/>
                    <a:pt x="1743927" y="309172"/>
                    <a:pt x="1705211" y="309172"/>
                  </a:cubicBezTo>
                  <a:lnTo>
                    <a:pt x="70102" y="309172"/>
                  </a:lnTo>
                  <a:cubicBezTo>
                    <a:pt x="31386" y="309172"/>
                    <a:pt x="0" y="277786"/>
                    <a:pt x="0" y="239070"/>
                  </a:cubicBezTo>
                  <a:lnTo>
                    <a:pt x="0" y="70102"/>
                  </a:lnTo>
                  <a:cubicBezTo>
                    <a:pt x="0" y="31386"/>
                    <a:pt x="31386" y="0"/>
                    <a:pt x="70102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775313" cy="366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605535" y="500603"/>
            <a:ext cx="6796640" cy="5446026"/>
          </a:xfrm>
          <a:custGeom>
            <a:avLst/>
            <a:gdLst/>
            <a:ahLst/>
            <a:cxnLst/>
            <a:rect l="l" t="t" r="r" b="b"/>
            <a:pathLst>
              <a:path w="6796640" h="5446026">
                <a:moveTo>
                  <a:pt x="0" y="0"/>
                </a:moveTo>
                <a:lnTo>
                  <a:pt x="6796640" y="0"/>
                </a:lnTo>
                <a:lnTo>
                  <a:pt x="6796640" y="5446026"/>
                </a:lnTo>
                <a:lnTo>
                  <a:pt x="0" y="5446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75942" y="1117967"/>
            <a:ext cx="6745331" cy="19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REGIONAL PERFORMANCE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0245" y="7405336"/>
            <a:ext cx="8380363" cy="23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Adopt successful sales and marketing practices from the West Region and implement them in lower-performing regions.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Expected Impact: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Improved regional balance and increased revenue contribution from underperforming markets.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86868" y="6705552"/>
            <a:ext cx="3547868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West    → $710K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East    → $670K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Central → $493K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South   → $389K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3637" y="4423752"/>
            <a:ext cx="72576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Sales performance varies significantly across regions.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637" y="5429451"/>
            <a:ext cx="7751799" cy="117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West Region is the strongest revenue contributor, while the South Region lags behind, indicating uneven market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2023" y="5557044"/>
            <a:ext cx="3829250" cy="1796355"/>
            <a:chOff x="0" y="0"/>
            <a:chExt cx="787911" cy="3696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7911" cy="369620"/>
            </a:xfrm>
            <a:custGeom>
              <a:avLst/>
              <a:gdLst/>
              <a:ahLst/>
              <a:cxnLst/>
              <a:rect l="l" t="t" r="r" b="b"/>
              <a:pathLst>
                <a:path w="787911" h="369620">
                  <a:moveTo>
                    <a:pt x="25272" y="0"/>
                  </a:moveTo>
                  <a:lnTo>
                    <a:pt x="762639" y="0"/>
                  </a:lnTo>
                  <a:cubicBezTo>
                    <a:pt x="776597" y="0"/>
                    <a:pt x="787911" y="11315"/>
                    <a:pt x="787911" y="25272"/>
                  </a:cubicBezTo>
                  <a:lnTo>
                    <a:pt x="787911" y="344348"/>
                  </a:lnTo>
                  <a:cubicBezTo>
                    <a:pt x="787911" y="358306"/>
                    <a:pt x="776597" y="369620"/>
                    <a:pt x="762639" y="369620"/>
                  </a:cubicBezTo>
                  <a:lnTo>
                    <a:pt x="25272" y="369620"/>
                  </a:lnTo>
                  <a:cubicBezTo>
                    <a:pt x="11315" y="369620"/>
                    <a:pt x="0" y="358306"/>
                    <a:pt x="0" y="344348"/>
                  </a:cubicBezTo>
                  <a:lnTo>
                    <a:pt x="0" y="25272"/>
                  </a:lnTo>
                  <a:cubicBezTo>
                    <a:pt x="0" y="11315"/>
                    <a:pt x="11315" y="0"/>
                    <a:pt x="25272" y="0"/>
                  </a:cubicBezTo>
                  <a:close/>
                </a:path>
              </a:pathLst>
            </a:custGeom>
            <a:solidFill>
              <a:srgbClr val="1F2B94"/>
            </a:solidFill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87911" cy="426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2588" y="7865364"/>
            <a:ext cx="7658685" cy="1796355"/>
            <a:chOff x="0" y="0"/>
            <a:chExt cx="1575861" cy="3696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5861" cy="369620"/>
            </a:xfrm>
            <a:custGeom>
              <a:avLst/>
              <a:gdLst/>
              <a:ahLst/>
              <a:cxnLst/>
              <a:rect l="l" t="t" r="r" b="b"/>
              <a:pathLst>
                <a:path w="1575861" h="369620">
                  <a:moveTo>
                    <a:pt x="12636" y="0"/>
                  </a:moveTo>
                  <a:lnTo>
                    <a:pt x="1563225" y="0"/>
                  </a:lnTo>
                  <a:cubicBezTo>
                    <a:pt x="1566576" y="0"/>
                    <a:pt x="1569790" y="1331"/>
                    <a:pt x="1572160" y="3701"/>
                  </a:cubicBezTo>
                  <a:cubicBezTo>
                    <a:pt x="1574530" y="6071"/>
                    <a:pt x="1575861" y="9285"/>
                    <a:pt x="1575861" y="12636"/>
                  </a:cubicBezTo>
                  <a:lnTo>
                    <a:pt x="1575861" y="356984"/>
                  </a:lnTo>
                  <a:cubicBezTo>
                    <a:pt x="1575861" y="363963"/>
                    <a:pt x="1570204" y="369620"/>
                    <a:pt x="1563225" y="369620"/>
                  </a:cubicBezTo>
                  <a:lnTo>
                    <a:pt x="12636" y="369620"/>
                  </a:lnTo>
                  <a:cubicBezTo>
                    <a:pt x="9285" y="369620"/>
                    <a:pt x="6071" y="368289"/>
                    <a:pt x="3701" y="365919"/>
                  </a:cubicBezTo>
                  <a:cubicBezTo>
                    <a:pt x="1331" y="363550"/>
                    <a:pt x="0" y="360336"/>
                    <a:pt x="0" y="356984"/>
                  </a:cubicBezTo>
                  <a:lnTo>
                    <a:pt x="0" y="12636"/>
                  </a:lnTo>
                  <a:cubicBezTo>
                    <a:pt x="0" y="9285"/>
                    <a:pt x="1331" y="6071"/>
                    <a:pt x="3701" y="3701"/>
                  </a:cubicBezTo>
                  <a:cubicBezTo>
                    <a:pt x="6071" y="1331"/>
                    <a:pt x="9285" y="0"/>
                    <a:pt x="12636" y="0"/>
                  </a:cubicBezTo>
                  <a:close/>
                </a:path>
              </a:pathLst>
            </a:custGeom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575861" cy="426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2588" y="2848342"/>
            <a:ext cx="7658685" cy="814637"/>
            <a:chOff x="0" y="0"/>
            <a:chExt cx="1575861" cy="1676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5861" cy="167621"/>
            </a:xfrm>
            <a:custGeom>
              <a:avLst/>
              <a:gdLst/>
              <a:ahLst/>
              <a:cxnLst/>
              <a:rect l="l" t="t" r="r" b="b"/>
              <a:pathLst>
                <a:path w="1575861" h="167621">
                  <a:moveTo>
                    <a:pt x="78974" y="0"/>
                  </a:moveTo>
                  <a:lnTo>
                    <a:pt x="1496887" y="0"/>
                  </a:lnTo>
                  <a:cubicBezTo>
                    <a:pt x="1517832" y="0"/>
                    <a:pt x="1537920" y="8320"/>
                    <a:pt x="1552730" y="23131"/>
                  </a:cubicBezTo>
                  <a:cubicBezTo>
                    <a:pt x="1567541" y="37941"/>
                    <a:pt x="1575861" y="58029"/>
                    <a:pt x="1575861" y="78974"/>
                  </a:cubicBezTo>
                  <a:lnTo>
                    <a:pt x="1575861" y="88647"/>
                  </a:lnTo>
                  <a:cubicBezTo>
                    <a:pt x="1575861" y="132263"/>
                    <a:pt x="1540503" y="167621"/>
                    <a:pt x="1496887" y="167621"/>
                  </a:cubicBezTo>
                  <a:lnTo>
                    <a:pt x="78974" y="167621"/>
                  </a:lnTo>
                  <a:cubicBezTo>
                    <a:pt x="58029" y="167621"/>
                    <a:pt x="37941" y="159300"/>
                    <a:pt x="23131" y="144490"/>
                  </a:cubicBezTo>
                  <a:cubicBezTo>
                    <a:pt x="8320" y="129679"/>
                    <a:pt x="0" y="109592"/>
                    <a:pt x="0" y="88647"/>
                  </a:cubicBezTo>
                  <a:lnTo>
                    <a:pt x="0" y="78974"/>
                  </a:lnTo>
                  <a:cubicBezTo>
                    <a:pt x="0" y="58029"/>
                    <a:pt x="8320" y="37941"/>
                    <a:pt x="23131" y="23131"/>
                  </a:cubicBezTo>
                  <a:cubicBezTo>
                    <a:pt x="37941" y="8320"/>
                    <a:pt x="58029" y="0"/>
                    <a:pt x="78974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75861" cy="224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4598" y="3910629"/>
            <a:ext cx="7686675" cy="893940"/>
            <a:chOff x="0" y="0"/>
            <a:chExt cx="1581620" cy="1839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81620" cy="183938"/>
            </a:xfrm>
            <a:custGeom>
              <a:avLst/>
              <a:gdLst/>
              <a:ahLst/>
              <a:cxnLst/>
              <a:rect l="l" t="t" r="r" b="b"/>
              <a:pathLst>
                <a:path w="1581620" h="183938">
                  <a:moveTo>
                    <a:pt x="78686" y="0"/>
                  </a:moveTo>
                  <a:lnTo>
                    <a:pt x="1502934" y="0"/>
                  </a:lnTo>
                  <a:cubicBezTo>
                    <a:pt x="1523803" y="0"/>
                    <a:pt x="1543817" y="8290"/>
                    <a:pt x="1558574" y="23047"/>
                  </a:cubicBezTo>
                  <a:cubicBezTo>
                    <a:pt x="1573330" y="37803"/>
                    <a:pt x="1581620" y="57818"/>
                    <a:pt x="1581620" y="78686"/>
                  </a:cubicBezTo>
                  <a:lnTo>
                    <a:pt x="1581620" y="105252"/>
                  </a:lnTo>
                  <a:cubicBezTo>
                    <a:pt x="1581620" y="126121"/>
                    <a:pt x="1573330" y="146135"/>
                    <a:pt x="1558574" y="160892"/>
                  </a:cubicBezTo>
                  <a:cubicBezTo>
                    <a:pt x="1543817" y="175648"/>
                    <a:pt x="1523803" y="183938"/>
                    <a:pt x="1502934" y="183938"/>
                  </a:cubicBezTo>
                  <a:lnTo>
                    <a:pt x="78686" y="183938"/>
                  </a:lnTo>
                  <a:cubicBezTo>
                    <a:pt x="57818" y="183938"/>
                    <a:pt x="37803" y="175648"/>
                    <a:pt x="23047" y="160892"/>
                  </a:cubicBezTo>
                  <a:cubicBezTo>
                    <a:pt x="8290" y="146135"/>
                    <a:pt x="0" y="126121"/>
                    <a:pt x="0" y="105252"/>
                  </a:cubicBezTo>
                  <a:lnTo>
                    <a:pt x="0" y="78686"/>
                  </a:lnTo>
                  <a:cubicBezTo>
                    <a:pt x="0" y="57818"/>
                    <a:pt x="8290" y="37803"/>
                    <a:pt x="23047" y="23047"/>
                  </a:cubicBezTo>
                  <a:cubicBezTo>
                    <a:pt x="37803" y="8290"/>
                    <a:pt x="57818" y="0"/>
                    <a:pt x="78686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581620" cy="241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92288" y="2848342"/>
            <a:ext cx="7905037" cy="814637"/>
            <a:chOff x="0" y="0"/>
            <a:chExt cx="1626551" cy="1676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26551" cy="167621"/>
            </a:xfrm>
            <a:custGeom>
              <a:avLst/>
              <a:gdLst/>
              <a:ahLst/>
              <a:cxnLst/>
              <a:rect l="l" t="t" r="r" b="b"/>
              <a:pathLst>
                <a:path w="1626551" h="167621">
                  <a:moveTo>
                    <a:pt x="76513" y="0"/>
                  </a:moveTo>
                  <a:lnTo>
                    <a:pt x="1550038" y="0"/>
                  </a:lnTo>
                  <a:cubicBezTo>
                    <a:pt x="1592295" y="0"/>
                    <a:pt x="1626551" y="34256"/>
                    <a:pt x="1626551" y="76513"/>
                  </a:cubicBezTo>
                  <a:lnTo>
                    <a:pt x="1626551" y="91108"/>
                  </a:lnTo>
                  <a:cubicBezTo>
                    <a:pt x="1626551" y="133365"/>
                    <a:pt x="1592295" y="167621"/>
                    <a:pt x="1550038" y="167621"/>
                  </a:cubicBezTo>
                  <a:lnTo>
                    <a:pt x="76513" y="167621"/>
                  </a:lnTo>
                  <a:cubicBezTo>
                    <a:pt x="34256" y="167621"/>
                    <a:pt x="0" y="133365"/>
                    <a:pt x="0" y="91108"/>
                  </a:cubicBezTo>
                  <a:lnTo>
                    <a:pt x="0" y="76513"/>
                  </a:lnTo>
                  <a:cubicBezTo>
                    <a:pt x="0" y="34256"/>
                    <a:pt x="34256" y="0"/>
                    <a:pt x="76513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26551" cy="224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92288" y="3910629"/>
            <a:ext cx="7905037" cy="893940"/>
            <a:chOff x="0" y="0"/>
            <a:chExt cx="1626551" cy="1839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26551" cy="183938"/>
            </a:xfrm>
            <a:custGeom>
              <a:avLst/>
              <a:gdLst/>
              <a:ahLst/>
              <a:cxnLst/>
              <a:rect l="l" t="t" r="r" b="b"/>
              <a:pathLst>
                <a:path w="1626551" h="183938">
                  <a:moveTo>
                    <a:pt x="76513" y="0"/>
                  </a:moveTo>
                  <a:lnTo>
                    <a:pt x="1550038" y="0"/>
                  </a:lnTo>
                  <a:cubicBezTo>
                    <a:pt x="1592295" y="0"/>
                    <a:pt x="1626551" y="34256"/>
                    <a:pt x="1626551" y="76513"/>
                  </a:cubicBezTo>
                  <a:lnTo>
                    <a:pt x="1626551" y="107425"/>
                  </a:lnTo>
                  <a:cubicBezTo>
                    <a:pt x="1626551" y="149682"/>
                    <a:pt x="1592295" y="183938"/>
                    <a:pt x="1550038" y="183938"/>
                  </a:cubicBezTo>
                  <a:lnTo>
                    <a:pt x="76513" y="183938"/>
                  </a:lnTo>
                  <a:cubicBezTo>
                    <a:pt x="34256" y="183938"/>
                    <a:pt x="0" y="149682"/>
                    <a:pt x="0" y="107425"/>
                  </a:cubicBezTo>
                  <a:lnTo>
                    <a:pt x="0" y="76513"/>
                  </a:lnTo>
                  <a:cubicBezTo>
                    <a:pt x="0" y="34256"/>
                    <a:pt x="34256" y="0"/>
                    <a:pt x="76513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626551" cy="241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92288" y="7865364"/>
            <a:ext cx="7905037" cy="1796355"/>
            <a:chOff x="0" y="0"/>
            <a:chExt cx="1626551" cy="3696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26551" cy="369620"/>
            </a:xfrm>
            <a:custGeom>
              <a:avLst/>
              <a:gdLst/>
              <a:ahLst/>
              <a:cxnLst/>
              <a:rect l="l" t="t" r="r" b="b"/>
              <a:pathLst>
                <a:path w="1626551" h="369620">
                  <a:moveTo>
                    <a:pt x="12242" y="0"/>
                  </a:moveTo>
                  <a:lnTo>
                    <a:pt x="1614309" y="0"/>
                  </a:lnTo>
                  <a:cubicBezTo>
                    <a:pt x="1621070" y="0"/>
                    <a:pt x="1626551" y="5481"/>
                    <a:pt x="1626551" y="12242"/>
                  </a:cubicBezTo>
                  <a:lnTo>
                    <a:pt x="1626551" y="357378"/>
                  </a:lnTo>
                  <a:cubicBezTo>
                    <a:pt x="1626551" y="364139"/>
                    <a:pt x="1621070" y="369620"/>
                    <a:pt x="1614309" y="369620"/>
                  </a:cubicBezTo>
                  <a:lnTo>
                    <a:pt x="12242" y="369620"/>
                  </a:lnTo>
                  <a:cubicBezTo>
                    <a:pt x="5481" y="369620"/>
                    <a:pt x="0" y="364139"/>
                    <a:pt x="0" y="357378"/>
                  </a:cubicBezTo>
                  <a:lnTo>
                    <a:pt x="0" y="12242"/>
                  </a:lnTo>
                  <a:cubicBezTo>
                    <a:pt x="0" y="5481"/>
                    <a:pt x="5481" y="0"/>
                    <a:pt x="12242" y="0"/>
                  </a:cubicBezTo>
                  <a:close/>
                </a:path>
              </a:pathLst>
            </a:custGeom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626551" cy="426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166846" y="5557044"/>
            <a:ext cx="3829250" cy="1796355"/>
            <a:chOff x="0" y="0"/>
            <a:chExt cx="787911" cy="3696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87911" cy="369620"/>
            </a:xfrm>
            <a:custGeom>
              <a:avLst/>
              <a:gdLst/>
              <a:ahLst/>
              <a:cxnLst/>
              <a:rect l="l" t="t" r="r" b="b"/>
              <a:pathLst>
                <a:path w="787911" h="369620">
                  <a:moveTo>
                    <a:pt x="25272" y="0"/>
                  </a:moveTo>
                  <a:lnTo>
                    <a:pt x="762639" y="0"/>
                  </a:lnTo>
                  <a:cubicBezTo>
                    <a:pt x="776597" y="0"/>
                    <a:pt x="787911" y="11315"/>
                    <a:pt x="787911" y="25272"/>
                  </a:cubicBezTo>
                  <a:lnTo>
                    <a:pt x="787911" y="344348"/>
                  </a:lnTo>
                  <a:cubicBezTo>
                    <a:pt x="787911" y="358306"/>
                    <a:pt x="776597" y="369620"/>
                    <a:pt x="762639" y="369620"/>
                  </a:cubicBezTo>
                  <a:lnTo>
                    <a:pt x="25272" y="369620"/>
                  </a:lnTo>
                  <a:cubicBezTo>
                    <a:pt x="11315" y="369620"/>
                    <a:pt x="0" y="358306"/>
                    <a:pt x="0" y="344348"/>
                  </a:cubicBezTo>
                  <a:lnTo>
                    <a:pt x="0" y="25272"/>
                  </a:lnTo>
                  <a:cubicBezTo>
                    <a:pt x="0" y="11315"/>
                    <a:pt x="11315" y="0"/>
                    <a:pt x="25272" y="0"/>
                  </a:cubicBezTo>
                  <a:close/>
                </a:path>
              </a:pathLst>
            </a:custGeom>
            <a:solidFill>
              <a:srgbClr val="1F2B94"/>
            </a:solidFill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787911" cy="426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4322538" y="4861333"/>
            <a:ext cx="3320322" cy="2839541"/>
          </a:xfrm>
          <a:custGeom>
            <a:avLst/>
            <a:gdLst/>
            <a:ahLst/>
            <a:cxnLst/>
            <a:rect l="l" t="t" r="r" b="b"/>
            <a:pathLst>
              <a:path w="3320322" h="2839541">
                <a:moveTo>
                  <a:pt x="0" y="0"/>
                </a:moveTo>
                <a:lnTo>
                  <a:pt x="3320323" y="0"/>
                </a:lnTo>
                <a:lnTo>
                  <a:pt x="3320323" y="2839541"/>
                </a:lnTo>
                <a:lnTo>
                  <a:pt x="0" y="283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1" r="-37038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56263" y="4969059"/>
            <a:ext cx="3214527" cy="2731815"/>
          </a:xfrm>
          <a:custGeom>
            <a:avLst/>
            <a:gdLst/>
            <a:ahLst/>
            <a:cxnLst/>
            <a:rect l="l" t="t" r="r" b="b"/>
            <a:pathLst>
              <a:path w="3214527" h="2731815">
                <a:moveTo>
                  <a:pt x="0" y="0"/>
                </a:moveTo>
                <a:lnTo>
                  <a:pt x="3214527" y="0"/>
                </a:lnTo>
                <a:lnTo>
                  <a:pt x="3214527" y="2731815"/>
                </a:lnTo>
                <a:lnTo>
                  <a:pt x="0" y="2731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0572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28700" y="551307"/>
            <a:ext cx="12967395" cy="102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Category &amp; Segment Analysis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4761" y="7953232"/>
            <a:ext cx="7766511" cy="156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Increase investment in Technology inventory and promotions.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Expected Impact: Higher revenue generation by focusing on the strongest-performing product category.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32533" y="5840224"/>
            <a:ext cx="3746516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Technology → $827K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Furniture → $729K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Office Supplies → $705K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9117" y="3031188"/>
            <a:ext cx="72576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Technology outperforms other categories.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9117" y="4114076"/>
            <a:ext cx="72576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Technology products are primary revenue drivers.</a:t>
            </a:r>
          </a:p>
        </p:txBody>
      </p:sp>
      <p:grpSp>
        <p:nvGrpSpPr>
          <p:cNvPr id="33" name="Group 33"/>
          <p:cNvGrpSpPr/>
          <p:nvPr/>
        </p:nvGrpSpPr>
        <p:grpSpPr>
          <a:xfrm rot="-10800000">
            <a:off x="-547577" y="2116119"/>
            <a:ext cx="3152554" cy="570298"/>
            <a:chOff x="0" y="0"/>
            <a:chExt cx="648674" cy="11734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8674" cy="117345"/>
            </a:xfrm>
            <a:custGeom>
              <a:avLst/>
              <a:gdLst/>
              <a:ahLst/>
              <a:cxnLst/>
              <a:rect l="l" t="t" r="r" b="b"/>
              <a:pathLst>
                <a:path w="648674" h="117345">
                  <a:moveTo>
                    <a:pt x="58673" y="0"/>
                  </a:moveTo>
                  <a:lnTo>
                    <a:pt x="590001" y="0"/>
                  </a:lnTo>
                  <a:cubicBezTo>
                    <a:pt x="605562" y="0"/>
                    <a:pt x="620486" y="6182"/>
                    <a:pt x="631489" y="17185"/>
                  </a:cubicBezTo>
                  <a:cubicBezTo>
                    <a:pt x="642492" y="28188"/>
                    <a:pt x="648674" y="43112"/>
                    <a:pt x="648674" y="58673"/>
                  </a:cubicBezTo>
                  <a:lnTo>
                    <a:pt x="648674" y="58673"/>
                  </a:lnTo>
                  <a:cubicBezTo>
                    <a:pt x="648674" y="74234"/>
                    <a:pt x="642492" y="89157"/>
                    <a:pt x="631489" y="100160"/>
                  </a:cubicBezTo>
                  <a:cubicBezTo>
                    <a:pt x="620486" y="111164"/>
                    <a:pt x="605562" y="117345"/>
                    <a:pt x="590001" y="117345"/>
                  </a:cubicBezTo>
                  <a:lnTo>
                    <a:pt x="58673" y="117345"/>
                  </a:lnTo>
                  <a:cubicBezTo>
                    <a:pt x="43112" y="117345"/>
                    <a:pt x="28188" y="111164"/>
                    <a:pt x="17185" y="100160"/>
                  </a:cubicBezTo>
                  <a:cubicBezTo>
                    <a:pt x="6182" y="89157"/>
                    <a:pt x="0" y="74234"/>
                    <a:pt x="0" y="58673"/>
                  </a:cubicBezTo>
                  <a:lnTo>
                    <a:pt x="0" y="58673"/>
                  </a:lnTo>
                  <a:cubicBezTo>
                    <a:pt x="0" y="43112"/>
                    <a:pt x="6182" y="28188"/>
                    <a:pt x="17185" y="17185"/>
                  </a:cubicBezTo>
                  <a:cubicBezTo>
                    <a:pt x="28188" y="6182"/>
                    <a:pt x="43112" y="0"/>
                    <a:pt x="58673" y="0"/>
                  </a:cubicBez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648674" cy="174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62588" y="2076816"/>
            <a:ext cx="175617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spc="-1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Category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673647" y="2091705"/>
            <a:ext cx="3152554" cy="570298"/>
            <a:chOff x="0" y="0"/>
            <a:chExt cx="648674" cy="11734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48674" cy="117345"/>
            </a:xfrm>
            <a:custGeom>
              <a:avLst/>
              <a:gdLst/>
              <a:ahLst/>
              <a:cxnLst/>
              <a:rect l="l" t="t" r="r" b="b"/>
              <a:pathLst>
                <a:path w="648674" h="117345">
                  <a:moveTo>
                    <a:pt x="58673" y="0"/>
                  </a:moveTo>
                  <a:lnTo>
                    <a:pt x="590001" y="0"/>
                  </a:lnTo>
                  <a:cubicBezTo>
                    <a:pt x="605562" y="0"/>
                    <a:pt x="620486" y="6182"/>
                    <a:pt x="631489" y="17185"/>
                  </a:cubicBezTo>
                  <a:cubicBezTo>
                    <a:pt x="642492" y="28188"/>
                    <a:pt x="648674" y="43112"/>
                    <a:pt x="648674" y="58673"/>
                  </a:cubicBezTo>
                  <a:lnTo>
                    <a:pt x="648674" y="58673"/>
                  </a:lnTo>
                  <a:cubicBezTo>
                    <a:pt x="648674" y="74234"/>
                    <a:pt x="642492" y="89157"/>
                    <a:pt x="631489" y="100160"/>
                  </a:cubicBezTo>
                  <a:cubicBezTo>
                    <a:pt x="620486" y="111164"/>
                    <a:pt x="605562" y="117345"/>
                    <a:pt x="590001" y="117345"/>
                  </a:cubicBezTo>
                  <a:lnTo>
                    <a:pt x="58673" y="117345"/>
                  </a:lnTo>
                  <a:cubicBezTo>
                    <a:pt x="43112" y="117345"/>
                    <a:pt x="28188" y="111164"/>
                    <a:pt x="17185" y="100160"/>
                  </a:cubicBezTo>
                  <a:cubicBezTo>
                    <a:pt x="6182" y="89157"/>
                    <a:pt x="0" y="74234"/>
                    <a:pt x="0" y="58673"/>
                  </a:cubicBezTo>
                  <a:lnTo>
                    <a:pt x="0" y="58673"/>
                  </a:lnTo>
                  <a:cubicBezTo>
                    <a:pt x="0" y="43112"/>
                    <a:pt x="6182" y="28188"/>
                    <a:pt x="17185" y="17185"/>
                  </a:cubicBezTo>
                  <a:cubicBezTo>
                    <a:pt x="28188" y="6182"/>
                    <a:pt x="43112" y="0"/>
                    <a:pt x="58673" y="0"/>
                  </a:cubicBez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648674" cy="174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949669" y="2072346"/>
            <a:ext cx="1947656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spc="-1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992288" y="4114076"/>
            <a:ext cx="775034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Consumer customers represent the core customer base.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92288" y="3031188"/>
            <a:ext cx="72576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Consumer segment generates the majority of sales.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66846" y="7953232"/>
            <a:ext cx="7730479" cy="156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Focus retention and loyalty initiatives on Consumer customers.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Expected Impact: Improved customer retention and increased customer lifetime value.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566485" y="5840224"/>
            <a:ext cx="3054620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Consumer → $1.15M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Corporate → $688K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Home Office → $425K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8068" y="6116275"/>
            <a:ext cx="10441232" cy="3142025"/>
            <a:chOff x="0" y="0"/>
            <a:chExt cx="1429081" cy="4300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9081" cy="430046"/>
            </a:xfrm>
            <a:custGeom>
              <a:avLst/>
              <a:gdLst/>
              <a:ahLst/>
              <a:cxnLst/>
              <a:rect l="l" t="t" r="r" b="b"/>
              <a:pathLst>
                <a:path w="1429081" h="430046">
                  <a:moveTo>
                    <a:pt x="12744" y="0"/>
                  </a:moveTo>
                  <a:lnTo>
                    <a:pt x="1416337" y="0"/>
                  </a:lnTo>
                  <a:cubicBezTo>
                    <a:pt x="1423375" y="0"/>
                    <a:pt x="1429081" y="5706"/>
                    <a:pt x="1429081" y="12744"/>
                  </a:cubicBezTo>
                  <a:lnTo>
                    <a:pt x="1429081" y="417302"/>
                  </a:lnTo>
                  <a:cubicBezTo>
                    <a:pt x="1429081" y="424340"/>
                    <a:pt x="1423375" y="430046"/>
                    <a:pt x="1416337" y="430046"/>
                  </a:cubicBezTo>
                  <a:lnTo>
                    <a:pt x="12744" y="430046"/>
                  </a:lnTo>
                  <a:cubicBezTo>
                    <a:pt x="5706" y="430046"/>
                    <a:pt x="0" y="424340"/>
                    <a:pt x="0" y="417302"/>
                  </a:cubicBezTo>
                  <a:lnTo>
                    <a:pt x="0" y="12744"/>
                  </a:lnTo>
                  <a:cubicBezTo>
                    <a:pt x="0" y="5706"/>
                    <a:pt x="5706" y="0"/>
                    <a:pt x="12744" y="0"/>
                  </a:cubicBezTo>
                  <a:close/>
                </a:path>
              </a:pathLst>
            </a:custGeom>
            <a:solidFill>
              <a:srgbClr val="1F2B94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429081" cy="487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37917" y="2335989"/>
            <a:ext cx="4415635" cy="3377636"/>
            <a:chOff x="0" y="0"/>
            <a:chExt cx="908567" cy="6949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8567" cy="694987"/>
            </a:xfrm>
            <a:custGeom>
              <a:avLst/>
              <a:gdLst/>
              <a:ahLst/>
              <a:cxnLst/>
              <a:rect l="l" t="t" r="r" b="b"/>
              <a:pathLst>
                <a:path w="908567" h="694987">
                  <a:moveTo>
                    <a:pt x="32874" y="0"/>
                  </a:moveTo>
                  <a:lnTo>
                    <a:pt x="875692" y="0"/>
                  </a:lnTo>
                  <a:cubicBezTo>
                    <a:pt x="893849" y="0"/>
                    <a:pt x="908567" y="14718"/>
                    <a:pt x="908567" y="32874"/>
                  </a:cubicBezTo>
                  <a:lnTo>
                    <a:pt x="908567" y="662112"/>
                  </a:lnTo>
                  <a:cubicBezTo>
                    <a:pt x="908567" y="680268"/>
                    <a:pt x="893849" y="694987"/>
                    <a:pt x="875692" y="694987"/>
                  </a:cubicBezTo>
                  <a:lnTo>
                    <a:pt x="32874" y="694987"/>
                  </a:lnTo>
                  <a:cubicBezTo>
                    <a:pt x="14718" y="694987"/>
                    <a:pt x="0" y="680268"/>
                    <a:pt x="0" y="662112"/>
                  </a:cubicBezTo>
                  <a:lnTo>
                    <a:pt x="0" y="32874"/>
                  </a:lnTo>
                  <a:cubicBezTo>
                    <a:pt x="0" y="14718"/>
                    <a:pt x="14718" y="0"/>
                    <a:pt x="32874" y="0"/>
                  </a:cubicBezTo>
                  <a:close/>
                </a:path>
              </a:pathLst>
            </a:custGeom>
            <a:solidFill>
              <a:srgbClr val="FFF7F7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8567" cy="752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71863" y="3729016"/>
            <a:ext cx="4107342" cy="3009899"/>
          </a:xfrm>
          <a:custGeom>
            <a:avLst/>
            <a:gdLst/>
            <a:ahLst/>
            <a:cxnLst/>
            <a:rect l="l" t="t" r="r" b="b"/>
            <a:pathLst>
              <a:path w="4107342" h="3009899">
                <a:moveTo>
                  <a:pt x="0" y="0"/>
                </a:moveTo>
                <a:lnTo>
                  <a:pt x="4107342" y="0"/>
                </a:lnTo>
                <a:lnTo>
                  <a:pt x="4107342" y="3009899"/>
                </a:lnTo>
                <a:lnTo>
                  <a:pt x="0" y="300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095375"/>
            <a:ext cx="9669312" cy="19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Customer &amp; Product Analysis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115295" y="2335989"/>
            <a:ext cx="4415635" cy="3377636"/>
            <a:chOff x="0" y="0"/>
            <a:chExt cx="908567" cy="6949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8567" cy="694987"/>
            </a:xfrm>
            <a:custGeom>
              <a:avLst/>
              <a:gdLst/>
              <a:ahLst/>
              <a:cxnLst/>
              <a:rect l="l" t="t" r="r" b="b"/>
              <a:pathLst>
                <a:path w="908567" h="694987">
                  <a:moveTo>
                    <a:pt x="32874" y="0"/>
                  </a:moveTo>
                  <a:lnTo>
                    <a:pt x="875692" y="0"/>
                  </a:lnTo>
                  <a:cubicBezTo>
                    <a:pt x="893849" y="0"/>
                    <a:pt x="908567" y="14718"/>
                    <a:pt x="908567" y="32874"/>
                  </a:cubicBezTo>
                  <a:lnTo>
                    <a:pt x="908567" y="662112"/>
                  </a:lnTo>
                  <a:cubicBezTo>
                    <a:pt x="908567" y="680268"/>
                    <a:pt x="893849" y="694987"/>
                    <a:pt x="875692" y="694987"/>
                  </a:cubicBezTo>
                  <a:lnTo>
                    <a:pt x="32874" y="694987"/>
                  </a:lnTo>
                  <a:cubicBezTo>
                    <a:pt x="14718" y="694987"/>
                    <a:pt x="0" y="680268"/>
                    <a:pt x="0" y="662112"/>
                  </a:cubicBezTo>
                  <a:lnTo>
                    <a:pt x="0" y="32874"/>
                  </a:lnTo>
                  <a:cubicBezTo>
                    <a:pt x="0" y="14718"/>
                    <a:pt x="14718" y="0"/>
                    <a:pt x="32874" y="0"/>
                  </a:cubicBezTo>
                  <a:close/>
                </a:path>
              </a:pathLst>
            </a:custGeom>
            <a:solidFill>
              <a:srgbClr val="FFF7F7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08567" cy="752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71863" y="7154724"/>
            <a:ext cx="4107342" cy="2801496"/>
          </a:xfrm>
          <a:custGeom>
            <a:avLst/>
            <a:gdLst/>
            <a:ahLst/>
            <a:cxnLst/>
            <a:rect l="l" t="t" r="r" b="b"/>
            <a:pathLst>
              <a:path w="4107342" h="2801496">
                <a:moveTo>
                  <a:pt x="0" y="0"/>
                </a:moveTo>
                <a:lnTo>
                  <a:pt x="4107342" y="0"/>
                </a:lnTo>
                <a:lnTo>
                  <a:pt x="4107342" y="2801496"/>
                </a:lnTo>
                <a:lnTo>
                  <a:pt x="0" y="2801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045208" y="6486428"/>
            <a:ext cx="9986953" cy="23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Implement customer loyalty initiatives and focus on promoting top-performing products.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Expected Impact: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Reduced customer churn and increased sales from high-value customers and products.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4312" y="3409809"/>
            <a:ext cx="3816617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Revenue is concentrated among a small group of customers and products.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33291" y="3409809"/>
            <a:ext cx="3816617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High-value customers and products contribute disproportionately to overall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870005"/>
            <a:ext cx="6142917" cy="193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Geographic Analysis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014352" y="2131783"/>
            <a:ext cx="6244948" cy="7126517"/>
            <a:chOff x="0" y="0"/>
            <a:chExt cx="1134003" cy="12940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4003" cy="1294085"/>
            </a:xfrm>
            <a:custGeom>
              <a:avLst/>
              <a:gdLst/>
              <a:ahLst/>
              <a:cxnLst/>
              <a:rect l="l" t="t" r="r" b="b"/>
              <a:pathLst>
                <a:path w="1134003" h="1294085">
                  <a:moveTo>
                    <a:pt x="18596" y="0"/>
                  </a:moveTo>
                  <a:lnTo>
                    <a:pt x="1115407" y="0"/>
                  </a:lnTo>
                  <a:cubicBezTo>
                    <a:pt x="1125678" y="0"/>
                    <a:pt x="1134003" y="8326"/>
                    <a:pt x="1134003" y="18596"/>
                  </a:cubicBezTo>
                  <a:lnTo>
                    <a:pt x="1134003" y="1275489"/>
                  </a:lnTo>
                  <a:cubicBezTo>
                    <a:pt x="1134003" y="1285759"/>
                    <a:pt x="1125678" y="1294085"/>
                    <a:pt x="1115407" y="1294085"/>
                  </a:cubicBezTo>
                  <a:lnTo>
                    <a:pt x="18596" y="1294085"/>
                  </a:lnTo>
                  <a:cubicBezTo>
                    <a:pt x="8326" y="1294085"/>
                    <a:pt x="0" y="1285759"/>
                    <a:pt x="0" y="1275489"/>
                  </a:cubicBezTo>
                  <a:lnTo>
                    <a:pt x="0" y="18596"/>
                  </a:lnTo>
                  <a:cubicBezTo>
                    <a:pt x="0" y="8326"/>
                    <a:pt x="8326" y="0"/>
                    <a:pt x="18596" y="0"/>
                  </a:cubicBezTo>
                  <a:close/>
                </a:path>
              </a:pathLst>
            </a:custGeom>
            <a:blipFill>
              <a:blip r:embed="rId2"/>
              <a:stretch>
                <a:fillRect l="-35640" r="-3564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4215490"/>
            <a:ext cx="4332015" cy="3326794"/>
            <a:chOff x="0" y="0"/>
            <a:chExt cx="891361" cy="684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1361" cy="684525"/>
            </a:xfrm>
            <a:custGeom>
              <a:avLst/>
              <a:gdLst/>
              <a:ahLst/>
              <a:cxnLst/>
              <a:rect l="l" t="t" r="r" b="b"/>
              <a:pathLst>
                <a:path w="891361" h="684525">
                  <a:moveTo>
                    <a:pt x="22339" y="0"/>
                  </a:moveTo>
                  <a:lnTo>
                    <a:pt x="869022" y="0"/>
                  </a:lnTo>
                  <a:cubicBezTo>
                    <a:pt x="874947" y="0"/>
                    <a:pt x="880629" y="2354"/>
                    <a:pt x="884818" y="6543"/>
                  </a:cubicBezTo>
                  <a:cubicBezTo>
                    <a:pt x="889007" y="10732"/>
                    <a:pt x="891361" y="16415"/>
                    <a:pt x="891361" y="22339"/>
                  </a:cubicBezTo>
                  <a:lnTo>
                    <a:pt x="891361" y="662186"/>
                  </a:lnTo>
                  <a:cubicBezTo>
                    <a:pt x="891361" y="668111"/>
                    <a:pt x="889007" y="673793"/>
                    <a:pt x="884818" y="677982"/>
                  </a:cubicBezTo>
                  <a:cubicBezTo>
                    <a:pt x="880629" y="682172"/>
                    <a:pt x="874947" y="684525"/>
                    <a:pt x="869022" y="684525"/>
                  </a:cubicBezTo>
                  <a:lnTo>
                    <a:pt x="22339" y="684525"/>
                  </a:lnTo>
                  <a:cubicBezTo>
                    <a:pt x="16415" y="684525"/>
                    <a:pt x="10732" y="682172"/>
                    <a:pt x="6543" y="677982"/>
                  </a:cubicBezTo>
                  <a:cubicBezTo>
                    <a:pt x="2354" y="673793"/>
                    <a:pt x="0" y="668111"/>
                    <a:pt x="0" y="662186"/>
                  </a:cubicBezTo>
                  <a:lnTo>
                    <a:pt x="0" y="22339"/>
                  </a:lnTo>
                  <a:cubicBezTo>
                    <a:pt x="0" y="16415"/>
                    <a:pt x="2354" y="10732"/>
                    <a:pt x="6543" y="6543"/>
                  </a:cubicBezTo>
                  <a:cubicBezTo>
                    <a:pt x="10732" y="2354"/>
                    <a:pt x="16415" y="0"/>
                    <a:pt x="22339" y="0"/>
                  </a:cubicBezTo>
                  <a:close/>
                </a:path>
              </a:pathLst>
            </a:custGeom>
            <a:solidFill>
              <a:srgbClr val="1F2B94"/>
            </a:solidFill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91361" cy="741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70265" y="4346535"/>
            <a:ext cx="5123397" cy="3042994"/>
            <a:chOff x="0" y="0"/>
            <a:chExt cx="1054197" cy="6261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4197" cy="626130"/>
            </a:xfrm>
            <a:custGeom>
              <a:avLst/>
              <a:gdLst/>
              <a:ahLst/>
              <a:cxnLst/>
              <a:rect l="l" t="t" r="r" b="b"/>
              <a:pathLst>
                <a:path w="1054197" h="626130">
                  <a:moveTo>
                    <a:pt x="28333" y="0"/>
                  </a:moveTo>
                  <a:lnTo>
                    <a:pt x="1025864" y="0"/>
                  </a:lnTo>
                  <a:cubicBezTo>
                    <a:pt x="1033378" y="0"/>
                    <a:pt x="1040585" y="2985"/>
                    <a:pt x="1045898" y="8299"/>
                  </a:cubicBezTo>
                  <a:cubicBezTo>
                    <a:pt x="1051212" y="13612"/>
                    <a:pt x="1054197" y="20819"/>
                    <a:pt x="1054197" y="28333"/>
                  </a:cubicBezTo>
                  <a:lnTo>
                    <a:pt x="1054197" y="597797"/>
                  </a:lnTo>
                  <a:cubicBezTo>
                    <a:pt x="1054197" y="605312"/>
                    <a:pt x="1051212" y="612518"/>
                    <a:pt x="1045898" y="617832"/>
                  </a:cubicBezTo>
                  <a:cubicBezTo>
                    <a:pt x="1040585" y="623145"/>
                    <a:pt x="1033378" y="626130"/>
                    <a:pt x="1025864" y="626130"/>
                  </a:cubicBezTo>
                  <a:lnTo>
                    <a:pt x="28333" y="626130"/>
                  </a:lnTo>
                  <a:cubicBezTo>
                    <a:pt x="20819" y="626130"/>
                    <a:pt x="13612" y="623145"/>
                    <a:pt x="8299" y="617832"/>
                  </a:cubicBezTo>
                  <a:cubicBezTo>
                    <a:pt x="2985" y="612518"/>
                    <a:pt x="0" y="605312"/>
                    <a:pt x="0" y="597797"/>
                  </a:cubicBezTo>
                  <a:lnTo>
                    <a:pt x="0" y="28333"/>
                  </a:lnTo>
                  <a:cubicBezTo>
                    <a:pt x="0" y="20819"/>
                    <a:pt x="2985" y="13612"/>
                    <a:pt x="8299" y="8299"/>
                  </a:cubicBezTo>
                  <a:cubicBezTo>
                    <a:pt x="13612" y="2985"/>
                    <a:pt x="20819" y="0"/>
                    <a:pt x="28333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54197" cy="68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7756588"/>
            <a:ext cx="9664962" cy="2282812"/>
            <a:chOff x="0" y="0"/>
            <a:chExt cx="1988675" cy="469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88675" cy="469714"/>
            </a:xfrm>
            <a:custGeom>
              <a:avLst/>
              <a:gdLst/>
              <a:ahLst/>
              <a:cxnLst/>
              <a:rect l="l" t="t" r="r" b="b"/>
              <a:pathLst>
                <a:path w="1988675" h="469714">
                  <a:moveTo>
                    <a:pt x="15019" y="0"/>
                  </a:moveTo>
                  <a:lnTo>
                    <a:pt x="1973656" y="0"/>
                  </a:lnTo>
                  <a:cubicBezTo>
                    <a:pt x="1977639" y="0"/>
                    <a:pt x="1981460" y="1582"/>
                    <a:pt x="1984276" y="4399"/>
                  </a:cubicBezTo>
                  <a:cubicBezTo>
                    <a:pt x="1987093" y="7216"/>
                    <a:pt x="1988675" y="11036"/>
                    <a:pt x="1988675" y="15019"/>
                  </a:cubicBezTo>
                  <a:lnTo>
                    <a:pt x="1988675" y="454695"/>
                  </a:lnTo>
                  <a:cubicBezTo>
                    <a:pt x="1988675" y="462990"/>
                    <a:pt x="1981951" y="469714"/>
                    <a:pt x="1973656" y="469714"/>
                  </a:cubicBezTo>
                  <a:lnTo>
                    <a:pt x="15019" y="469714"/>
                  </a:lnTo>
                  <a:cubicBezTo>
                    <a:pt x="11036" y="469714"/>
                    <a:pt x="7216" y="468132"/>
                    <a:pt x="4399" y="465315"/>
                  </a:cubicBezTo>
                  <a:cubicBezTo>
                    <a:pt x="1582" y="462499"/>
                    <a:pt x="0" y="458678"/>
                    <a:pt x="0" y="454695"/>
                  </a:cubicBezTo>
                  <a:lnTo>
                    <a:pt x="0" y="15019"/>
                  </a:lnTo>
                  <a:cubicBezTo>
                    <a:pt x="0" y="11036"/>
                    <a:pt x="1582" y="7216"/>
                    <a:pt x="4399" y="4399"/>
                  </a:cubicBezTo>
                  <a:cubicBezTo>
                    <a:pt x="7216" y="1582"/>
                    <a:pt x="11036" y="0"/>
                    <a:pt x="15019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88675" cy="526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16403" y="4482753"/>
            <a:ext cx="3556609" cy="273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California → $446K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New York → $306K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Texas → $169K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Washington → $135K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43116" y="4667172"/>
            <a:ext cx="4777695" cy="23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1F2B94"/>
                </a:solidFill>
                <a:latin typeface="Poppins"/>
                <a:ea typeface="Poppins"/>
                <a:cs typeface="Poppins"/>
                <a:sym typeface="Poppins"/>
              </a:rPr>
              <a:t>Sales are concentrated in a few high-performing states.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1F2B94"/>
                </a:solidFill>
                <a:latin typeface="Poppins"/>
                <a:ea typeface="Poppins"/>
                <a:cs typeface="Poppins"/>
                <a:sym typeface="Poppins"/>
              </a:rPr>
              <a:t>California and New York together contribute a substantial share of total revenue, indicating strong regional dependence.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6403" y="7892409"/>
            <a:ext cx="9104408" cy="195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1F2B94"/>
                </a:solidFill>
                <a:latin typeface="Poppins"/>
                <a:ea typeface="Poppins"/>
                <a:cs typeface="Poppins"/>
                <a:sym typeface="Poppins"/>
              </a:rPr>
              <a:t>Continue investing in high-performing markets while identifying growth opportunities in underrepresented states.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1F2B94"/>
                </a:solidFill>
                <a:latin typeface="Poppins"/>
                <a:ea typeface="Poppins"/>
                <a:cs typeface="Poppins"/>
                <a:sym typeface="Poppins"/>
              </a:rPr>
              <a:t>Expected Impact:</a:t>
            </a: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1F2B94"/>
                </a:solidFill>
                <a:latin typeface="Poppins"/>
                <a:ea typeface="Poppins"/>
                <a:cs typeface="Poppins"/>
                <a:sym typeface="Poppins"/>
              </a:rPr>
              <a:t>Geographic expansion with reduced dependence on a small number of states.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1806" y="1851746"/>
            <a:ext cx="9000468" cy="102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41989" y="3621790"/>
            <a:ext cx="10645611" cy="435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07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Sales increased by 50% from 2015 to 2018.</a:t>
            </a:r>
          </a:p>
          <a:p>
            <a:pPr algn="just">
              <a:lnSpc>
                <a:spcPts val="3079"/>
              </a:lnSpc>
            </a:pPr>
            <a:endParaRPr lang="en-US" sz="2199" spc="-107" dirty="0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spc="-107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West Region generated the highest revenue ($710K).</a:t>
            </a:r>
          </a:p>
          <a:p>
            <a:pPr algn="just">
              <a:lnSpc>
                <a:spcPts val="3079"/>
              </a:lnSpc>
            </a:pPr>
            <a:endParaRPr lang="en-US" sz="2199" spc="-107" dirty="0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spc="-107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Technology emerged as the top-performing category ($827K).</a:t>
            </a:r>
          </a:p>
          <a:p>
            <a:pPr algn="just">
              <a:lnSpc>
                <a:spcPts val="3079"/>
              </a:lnSpc>
            </a:pPr>
            <a:endParaRPr lang="en-US" sz="2199" spc="-107" dirty="0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spc="-107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Consumer customers contributed the majority of sales ($1.15M).</a:t>
            </a:r>
          </a:p>
          <a:p>
            <a:pPr algn="just">
              <a:lnSpc>
                <a:spcPts val="3079"/>
              </a:lnSpc>
            </a:pPr>
            <a:endParaRPr lang="en-US" sz="2199" spc="-107" dirty="0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spc="-107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California and New York were the strongest-performing states.</a:t>
            </a:r>
          </a:p>
          <a:p>
            <a:pPr algn="just">
              <a:lnSpc>
                <a:spcPts val="3079"/>
              </a:lnSpc>
            </a:pPr>
            <a:endParaRPr lang="en-US" sz="2199" spc="-107" dirty="0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spc="-107" dirty="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• Revenue concentration exists among a small group of customers and products.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247951" y="3406631"/>
            <a:ext cx="11021419" cy="4784786"/>
            <a:chOff x="0" y="0"/>
            <a:chExt cx="1738974" cy="754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38974" cy="754950"/>
            </a:xfrm>
            <a:custGeom>
              <a:avLst/>
              <a:gdLst/>
              <a:ahLst/>
              <a:cxnLst/>
              <a:rect l="l" t="t" r="r" b="b"/>
              <a:pathLst>
                <a:path w="1738974" h="754950">
                  <a:moveTo>
                    <a:pt x="13171" y="0"/>
                  </a:moveTo>
                  <a:lnTo>
                    <a:pt x="1725803" y="0"/>
                  </a:lnTo>
                  <a:cubicBezTo>
                    <a:pt x="1729296" y="0"/>
                    <a:pt x="1732646" y="1388"/>
                    <a:pt x="1735116" y="3858"/>
                  </a:cubicBezTo>
                  <a:cubicBezTo>
                    <a:pt x="1737586" y="6328"/>
                    <a:pt x="1738974" y="9678"/>
                    <a:pt x="1738974" y="13171"/>
                  </a:cubicBezTo>
                  <a:lnTo>
                    <a:pt x="1738974" y="741779"/>
                  </a:lnTo>
                  <a:cubicBezTo>
                    <a:pt x="1738974" y="745272"/>
                    <a:pt x="1737586" y="748622"/>
                    <a:pt x="1735116" y="751092"/>
                  </a:cubicBezTo>
                  <a:cubicBezTo>
                    <a:pt x="1732646" y="753562"/>
                    <a:pt x="1729296" y="754950"/>
                    <a:pt x="1725803" y="754950"/>
                  </a:cubicBezTo>
                  <a:lnTo>
                    <a:pt x="13171" y="754950"/>
                  </a:lnTo>
                  <a:cubicBezTo>
                    <a:pt x="9678" y="754950"/>
                    <a:pt x="6328" y="753562"/>
                    <a:pt x="3858" y="751092"/>
                  </a:cubicBezTo>
                  <a:cubicBezTo>
                    <a:pt x="1388" y="748622"/>
                    <a:pt x="0" y="745272"/>
                    <a:pt x="0" y="741779"/>
                  </a:cubicBezTo>
                  <a:lnTo>
                    <a:pt x="0" y="13171"/>
                  </a:lnTo>
                  <a:cubicBezTo>
                    <a:pt x="0" y="9678"/>
                    <a:pt x="1388" y="6328"/>
                    <a:pt x="3858" y="3858"/>
                  </a:cubicBezTo>
                  <a:cubicBezTo>
                    <a:pt x="6328" y="1388"/>
                    <a:pt x="9678" y="0"/>
                    <a:pt x="13171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738974" cy="81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5086" y="8553627"/>
            <a:ext cx="18627148" cy="1290253"/>
            <a:chOff x="0" y="0"/>
            <a:chExt cx="2549478" cy="1765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49478" cy="176596"/>
            </a:xfrm>
            <a:custGeom>
              <a:avLst/>
              <a:gdLst/>
              <a:ahLst/>
              <a:cxnLst/>
              <a:rect l="l" t="t" r="r" b="b"/>
              <a:pathLst>
                <a:path w="2549478" h="176596">
                  <a:moveTo>
                    <a:pt x="28899" y="0"/>
                  </a:moveTo>
                  <a:lnTo>
                    <a:pt x="2520579" y="0"/>
                  </a:lnTo>
                  <a:cubicBezTo>
                    <a:pt x="2536540" y="0"/>
                    <a:pt x="2549478" y="12939"/>
                    <a:pt x="2549478" y="28899"/>
                  </a:cubicBezTo>
                  <a:lnTo>
                    <a:pt x="2549478" y="147697"/>
                  </a:lnTo>
                  <a:cubicBezTo>
                    <a:pt x="2549478" y="163657"/>
                    <a:pt x="2536540" y="176596"/>
                    <a:pt x="2520579" y="176596"/>
                  </a:cubicBezTo>
                  <a:lnTo>
                    <a:pt x="28899" y="176596"/>
                  </a:lnTo>
                  <a:cubicBezTo>
                    <a:pt x="21234" y="176596"/>
                    <a:pt x="13884" y="173551"/>
                    <a:pt x="8464" y="168131"/>
                  </a:cubicBezTo>
                  <a:cubicBezTo>
                    <a:pt x="3045" y="162712"/>
                    <a:pt x="0" y="155361"/>
                    <a:pt x="0" y="147697"/>
                  </a:cubicBezTo>
                  <a:lnTo>
                    <a:pt x="0" y="28899"/>
                  </a:lnTo>
                  <a:cubicBezTo>
                    <a:pt x="0" y="12939"/>
                    <a:pt x="12939" y="0"/>
                    <a:pt x="28899" y="0"/>
                  </a:cubicBezTo>
                  <a:close/>
                </a:path>
              </a:pathLst>
            </a:custGeom>
            <a:solidFill>
              <a:srgbClr val="1F2B94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549478" cy="233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8667667"/>
            <a:ext cx="17058680" cy="78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Overall Finding: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Technology products, Consumer customers, and the West Region emerged as the primary revenue drivers of the business.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47431"/>
            <a:ext cx="5161203" cy="6026129"/>
            <a:chOff x="0" y="0"/>
            <a:chExt cx="927140" cy="10825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7140" cy="1082512"/>
            </a:xfrm>
            <a:custGeom>
              <a:avLst/>
              <a:gdLst/>
              <a:ahLst/>
              <a:cxnLst/>
              <a:rect l="l" t="t" r="r" b="b"/>
              <a:pathLst>
                <a:path w="927140" h="1082512">
                  <a:moveTo>
                    <a:pt x="18750" y="0"/>
                  </a:moveTo>
                  <a:lnTo>
                    <a:pt x="908389" y="0"/>
                  </a:lnTo>
                  <a:cubicBezTo>
                    <a:pt x="913362" y="0"/>
                    <a:pt x="918132" y="1975"/>
                    <a:pt x="921648" y="5492"/>
                  </a:cubicBezTo>
                  <a:cubicBezTo>
                    <a:pt x="925164" y="9008"/>
                    <a:pt x="927140" y="13777"/>
                    <a:pt x="927140" y="18750"/>
                  </a:cubicBezTo>
                  <a:lnTo>
                    <a:pt x="927140" y="1063762"/>
                  </a:lnTo>
                  <a:cubicBezTo>
                    <a:pt x="927140" y="1068735"/>
                    <a:pt x="925164" y="1073504"/>
                    <a:pt x="921648" y="1077020"/>
                  </a:cubicBezTo>
                  <a:cubicBezTo>
                    <a:pt x="918132" y="1080536"/>
                    <a:pt x="913362" y="1082512"/>
                    <a:pt x="908389" y="1082512"/>
                  </a:cubicBezTo>
                  <a:lnTo>
                    <a:pt x="18750" y="1082512"/>
                  </a:lnTo>
                  <a:cubicBezTo>
                    <a:pt x="13777" y="1082512"/>
                    <a:pt x="9008" y="1080536"/>
                    <a:pt x="5492" y="1077020"/>
                  </a:cubicBezTo>
                  <a:cubicBezTo>
                    <a:pt x="1975" y="1073504"/>
                    <a:pt x="0" y="1068735"/>
                    <a:pt x="0" y="1063762"/>
                  </a:cubicBezTo>
                  <a:lnTo>
                    <a:pt x="0" y="18750"/>
                  </a:lnTo>
                  <a:cubicBezTo>
                    <a:pt x="0" y="13777"/>
                    <a:pt x="1975" y="9008"/>
                    <a:pt x="5492" y="5492"/>
                  </a:cubicBezTo>
                  <a:cubicBezTo>
                    <a:pt x="9008" y="1975"/>
                    <a:pt x="13777" y="0"/>
                    <a:pt x="18750" y="0"/>
                  </a:cubicBezTo>
                  <a:close/>
                </a:path>
              </a:pathLst>
            </a:custGeom>
            <a:solidFill>
              <a:srgbClr val="1F2B94"/>
            </a:solidFill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27140" cy="1139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78073" y="6336739"/>
            <a:ext cx="6142052" cy="3433746"/>
          </a:xfrm>
          <a:custGeom>
            <a:avLst/>
            <a:gdLst/>
            <a:ahLst/>
            <a:cxnLst/>
            <a:rect l="l" t="t" r="r" b="b"/>
            <a:pathLst>
              <a:path w="6142052" h="3433746">
                <a:moveTo>
                  <a:pt x="0" y="0"/>
                </a:moveTo>
                <a:lnTo>
                  <a:pt x="6142052" y="0"/>
                </a:lnTo>
                <a:lnTo>
                  <a:pt x="6142052" y="3433745"/>
                </a:lnTo>
                <a:lnTo>
                  <a:pt x="0" y="3433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08515" y="6336739"/>
            <a:ext cx="6121441" cy="3433746"/>
          </a:xfrm>
          <a:custGeom>
            <a:avLst/>
            <a:gdLst/>
            <a:ahLst/>
            <a:cxnLst/>
            <a:rect l="l" t="t" r="r" b="b"/>
            <a:pathLst>
              <a:path w="6121441" h="3433746">
                <a:moveTo>
                  <a:pt x="0" y="0"/>
                </a:moveTo>
                <a:lnTo>
                  <a:pt x="6121440" y="0"/>
                </a:lnTo>
                <a:lnTo>
                  <a:pt x="6121440" y="3433746"/>
                </a:lnTo>
                <a:lnTo>
                  <a:pt x="0" y="3433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214180" y="761094"/>
            <a:ext cx="9238488" cy="102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Power BI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3788" y="895350"/>
            <a:ext cx="5594726" cy="45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 spc="-161">
                <a:solidFill>
                  <a:srgbClr val="FFF7F7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Features</a:t>
            </a:r>
          </a:p>
          <a:p>
            <a:pPr algn="l">
              <a:lnSpc>
                <a:spcPts val="3079"/>
              </a:lnSpc>
            </a:pPr>
            <a:endParaRPr lang="en-US" sz="3299" b="1" spc="-161">
              <a:solidFill>
                <a:srgbClr val="FFF7F7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✓ KPI Monitoring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✓ Interactive Filters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✓ Decomposition Tree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✓ Drill-through Analysis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7F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✓ Business Insights Panel</a:t>
            </a:r>
          </a:p>
        </p:txBody>
      </p:sp>
      <p:sp>
        <p:nvSpPr>
          <p:cNvPr id="9" name="Freeform 9"/>
          <p:cNvSpPr/>
          <p:nvPr/>
        </p:nvSpPr>
        <p:spPr>
          <a:xfrm>
            <a:off x="6827609" y="2344555"/>
            <a:ext cx="6183362" cy="3433746"/>
          </a:xfrm>
          <a:custGeom>
            <a:avLst/>
            <a:gdLst/>
            <a:ahLst/>
            <a:cxnLst/>
            <a:rect l="l" t="t" r="r" b="b"/>
            <a:pathLst>
              <a:path w="6183362" h="3433746">
                <a:moveTo>
                  <a:pt x="0" y="0"/>
                </a:moveTo>
                <a:lnTo>
                  <a:pt x="6183362" y="0"/>
                </a:lnTo>
                <a:lnTo>
                  <a:pt x="6183362" y="3433746"/>
                </a:lnTo>
                <a:lnTo>
                  <a:pt x="0" y="343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40" b="-540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3706736" y="3538528"/>
            <a:ext cx="5161203" cy="6026129"/>
            <a:chOff x="0" y="0"/>
            <a:chExt cx="927140" cy="10825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7140" cy="1082512"/>
            </a:xfrm>
            <a:custGeom>
              <a:avLst/>
              <a:gdLst/>
              <a:ahLst/>
              <a:cxnLst/>
              <a:rect l="l" t="t" r="r" b="b"/>
              <a:pathLst>
                <a:path w="927140" h="1082512">
                  <a:moveTo>
                    <a:pt x="18750" y="0"/>
                  </a:moveTo>
                  <a:lnTo>
                    <a:pt x="908389" y="0"/>
                  </a:lnTo>
                  <a:cubicBezTo>
                    <a:pt x="913362" y="0"/>
                    <a:pt x="918132" y="1975"/>
                    <a:pt x="921648" y="5492"/>
                  </a:cubicBezTo>
                  <a:cubicBezTo>
                    <a:pt x="925164" y="9008"/>
                    <a:pt x="927140" y="13777"/>
                    <a:pt x="927140" y="18750"/>
                  </a:cubicBezTo>
                  <a:lnTo>
                    <a:pt x="927140" y="1063762"/>
                  </a:lnTo>
                  <a:cubicBezTo>
                    <a:pt x="927140" y="1068735"/>
                    <a:pt x="925164" y="1073504"/>
                    <a:pt x="921648" y="1077020"/>
                  </a:cubicBezTo>
                  <a:cubicBezTo>
                    <a:pt x="918132" y="1080536"/>
                    <a:pt x="913362" y="1082512"/>
                    <a:pt x="908389" y="1082512"/>
                  </a:cubicBezTo>
                  <a:lnTo>
                    <a:pt x="18750" y="1082512"/>
                  </a:lnTo>
                  <a:cubicBezTo>
                    <a:pt x="13777" y="1082512"/>
                    <a:pt x="9008" y="1080536"/>
                    <a:pt x="5492" y="1077020"/>
                  </a:cubicBezTo>
                  <a:cubicBezTo>
                    <a:pt x="1975" y="1073504"/>
                    <a:pt x="0" y="1068735"/>
                    <a:pt x="0" y="1063762"/>
                  </a:cubicBezTo>
                  <a:lnTo>
                    <a:pt x="0" y="18750"/>
                  </a:lnTo>
                  <a:cubicBezTo>
                    <a:pt x="0" y="13777"/>
                    <a:pt x="1975" y="9008"/>
                    <a:pt x="5492" y="5492"/>
                  </a:cubicBezTo>
                  <a:cubicBezTo>
                    <a:pt x="9008" y="1975"/>
                    <a:pt x="13777" y="0"/>
                    <a:pt x="18750" y="0"/>
                  </a:cubicBezTo>
                  <a:close/>
                </a:path>
              </a:pathLst>
            </a:custGeom>
            <a:solidFill>
              <a:srgbClr val="1F2B94"/>
            </a:solidFill>
            <a:ln w="38100" cap="sq">
              <a:solidFill>
                <a:srgbClr val="1F2B94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27140" cy="1139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982961" y="5218806"/>
            <a:ext cx="4053144" cy="390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Enables faster decision-making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Provides self-service analytics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Improves performance monitoring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Supports data-driven business strategies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69716" y="4061428"/>
            <a:ext cx="3022883" cy="463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137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Business Value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0689" y="4781300"/>
            <a:ext cx="10079081" cy="4766599"/>
            <a:chOff x="0" y="0"/>
            <a:chExt cx="1379513" cy="652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9513" cy="652399"/>
            </a:xfrm>
            <a:custGeom>
              <a:avLst/>
              <a:gdLst/>
              <a:ahLst/>
              <a:cxnLst/>
              <a:rect l="l" t="t" r="r" b="b"/>
              <a:pathLst>
                <a:path w="1379513" h="652399">
                  <a:moveTo>
                    <a:pt x="13202" y="0"/>
                  </a:moveTo>
                  <a:lnTo>
                    <a:pt x="1366311" y="0"/>
                  </a:lnTo>
                  <a:cubicBezTo>
                    <a:pt x="1373603" y="0"/>
                    <a:pt x="1379513" y="5911"/>
                    <a:pt x="1379513" y="13202"/>
                  </a:cubicBezTo>
                  <a:lnTo>
                    <a:pt x="1379513" y="639197"/>
                  </a:lnTo>
                  <a:cubicBezTo>
                    <a:pt x="1379513" y="646489"/>
                    <a:pt x="1373603" y="652399"/>
                    <a:pt x="1366311" y="652399"/>
                  </a:cubicBezTo>
                  <a:lnTo>
                    <a:pt x="13202" y="652399"/>
                  </a:lnTo>
                  <a:cubicBezTo>
                    <a:pt x="5911" y="652399"/>
                    <a:pt x="0" y="646489"/>
                    <a:pt x="0" y="639197"/>
                  </a:cubicBezTo>
                  <a:lnTo>
                    <a:pt x="0" y="13202"/>
                  </a:lnTo>
                  <a:cubicBezTo>
                    <a:pt x="0" y="5911"/>
                    <a:pt x="5911" y="0"/>
                    <a:pt x="13202" y="0"/>
                  </a:cubicBezTo>
                  <a:close/>
                </a:path>
              </a:pathLst>
            </a:custGeom>
            <a:solidFill>
              <a:srgbClr val="1F2B94"/>
            </a:solidFill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79513" cy="709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937432" y="2190479"/>
            <a:ext cx="8321868" cy="193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Executive 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0631" y="4987365"/>
            <a:ext cx="9379198" cy="429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Expand Technology product offerings.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Improve customer retention strategies.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Replicate successful West Region sales practices.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Increase focus on Home Office customers.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Strengthen underperforming regions.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spc="-1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 Use dashboard insights for continuous decision-making.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21707" y="3565462"/>
            <a:ext cx="6142917" cy="102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2"/>
              </a:lnSpc>
            </a:pPr>
            <a:r>
              <a:rPr lang="en-US" sz="7200" spc="-25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856262" y="5405022"/>
            <a:ext cx="13240296" cy="3478928"/>
            <a:chOff x="0" y="0"/>
            <a:chExt cx="2724341" cy="7158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24341" cy="715829"/>
            </a:xfrm>
            <a:custGeom>
              <a:avLst/>
              <a:gdLst/>
              <a:ahLst/>
              <a:cxnLst/>
              <a:rect l="l" t="t" r="r" b="b"/>
              <a:pathLst>
                <a:path w="2724341" h="715829">
                  <a:moveTo>
                    <a:pt x="10964" y="0"/>
                  </a:moveTo>
                  <a:lnTo>
                    <a:pt x="2713377" y="0"/>
                  </a:lnTo>
                  <a:cubicBezTo>
                    <a:pt x="2719432" y="0"/>
                    <a:pt x="2724341" y="4909"/>
                    <a:pt x="2724341" y="10964"/>
                  </a:cubicBezTo>
                  <a:lnTo>
                    <a:pt x="2724341" y="704865"/>
                  </a:lnTo>
                  <a:cubicBezTo>
                    <a:pt x="2724341" y="707773"/>
                    <a:pt x="2723186" y="710562"/>
                    <a:pt x="2721129" y="712618"/>
                  </a:cubicBezTo>
                  <a:cubicBezTo>
                    <a:pt x="2719073" y="714674"/>
                    <a:pt x="2716285" y="715829"/>
                    <a:pt x="2713377" y="715829"/>
                  </a:cubicBezTo>
                  <a:lnTo>
                    <a:pt x="10964" y="715829"/>
                  </a:lnTo>
                  <a:cubicBezTo>
                    <a:pt x="4909" y="715829"/>
                    <a:pt x="0" y="710920"/>
                    <a:pt x="0" y="704865"/>
                  </a:cubicBezTo>
                  <a:lnTo>
                    <a:pt x="0" y="10964"/>
                  </a:lnTo>
                  <a:cubicBezTo>
                    <a:pt x="0" y="4909"/>
                    <a:pt x="4909" y="0"/>
                    <a:pt x="10964" y="0"/>
                  </a:cubicBezTo>
                  <a:close/>
                </a:path>
              </a:pathLst>
            </a:custGeom>
            <a:ln w="38100" cap="rnd">
              <a:solidFill>
                <a:srgbClr val="1F2B94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24341" cy="772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23674" y="5816621"/>
            <a:ext cx="12905471" cy="273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This project transformed 9,800 transactional records into actionable business intelligence.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analysis identified key growth drivers, revenue opportunities, customer behavior patterns, and strategic recommendations.</a:t>
            </a:r>
          </a:p>
          <a:p>
            <a:pPr algn="l">
              <a:lnSpc>
                <a:spcPts val="3079"/>
              </a:lnSpc>
            </a:pPr>
            <a:endParaRPr lang="en-US" sz="2199" spc="-107">
              <a:solidFill>
                <a:srgbClr val="3434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The resulting Power BI dashboard enables stakeholders to monitor performance and make data-driven decisions effectively.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689168"/>
            <a:ext cx="18288000" cy="2985703"/>
            <a:chOff x="0" y="0"/>
            <a:chExt cx="3762963" cy="614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2963" cy="614342"/>
            </a:xfrm>
            <a:custGeom>
              <a:avLst/>
              <a:gdLst/>
              <a:ahLst/>
              <a:cxnLst/>
              <a:rect l="l" t="t" r="r" b="b"/>
              <a:pathLst>
                <a:path w="3762963" h="614342">
                  <a:moveTo>
                    <a:pt x="0" y="0"/>
                  </a:moveTo>
                  <a:lnTo>
                    <a:pt x="3762963" y="0"/>
                  </a:lnTo>
                  <a:lnTo>
                    <a:pt x="3762963" y="614342"/>
                  </a:lnTo>
                  <a:lnTo>
                    <a:pt x="0" y="614342"/>
                  </a:lnTo>
                  <a:close/>
                </a:path>
              </a:pathLst>
            </a:custGeom>
            <a:solidFill>
              <a:srgbClr val="1F2B9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762963" cy="671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7420372" y="7855687"/>
            <a:ext cx="9838928" cy="0"/>
          </a:xfrm>
          <a:prstGeom prst="line">
            <a:avLst/>
          </a:prstGeom>
          <a:ln w="19050" cap="flat">
            <a:solidFill>
              <a:srgbClr val="FFF7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903795" y="2801714"/>
            <a:ext cx="6047857" cy="3400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02"/>
              </a:lnSpc>
            </a:pPr>
            <a:r>
              <a:rPr lang="en-US" sz="11853" spc="-414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0372" y="7020076"/>
            <a:ext cx="5691031" cy="3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-60">
                <a:solidFill>
                  <a:srgbClr val="FFF7F7"/>
                </a:solidFill>
                <a:latin typeface="Poppins"/>
                <a:ea typeface="Poppins"/>
                <a:cs typeface="Poppins"/>
                <a:sym typeface="Poppins"/>
              </a:rPr>
              <a:t>I welcome your feedback and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1039</Words>
  <Application>Microsoft Office PowerPoint</Application>
  <PresentationFormat>Custom</PresentationFormat>
  <Paragraphs>204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Poppins</vt:lpstr>
      <vt:lpstr>The Seasons</vt:lpstr>
      <vt:lpstr>Muli</vt:lpstr>
      <vt:lpstr>Arial</vt:lpstr>
      <vt:lpstr>Poppins Bold</vt:lpstr>
      <vt:lpstr>Calibri</vt:lpstr>
      <vt:lpstr>The Seasons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</dc:title>
  <cp:lastModifiedBy>vivek vardhan</cp:lastModifiedBy>
  <cp:revision>2</cp:revision>
  <dcterms:created xsi:type="dcterms:W3CDTF">2006-08-16T00:00:00Z</dcterms:created>
  <dcterms:modified xsi:type="dcterms:W3CDTF">2026-06-14T19:34:46Z</dcterms:modified>
  <dc:identifier>DAHMi17IbvE</dc:identifier>
</cp:coreProperties>
</file>